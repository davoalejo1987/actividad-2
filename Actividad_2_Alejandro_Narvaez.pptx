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8" r:id="rId10"/>
    <p:sldId id="262" r:id="rId11"/>
  </p:sldIdLst>
  <p:sldSz cx="18288000" cy="10287000"/>
  <p:notesSz cx="6858000" cy="9144000"/>
  <p:embeddedFontLst>
    <p:embeddedFont>
      <p:font typeface="Montserrat" panose="00000500000000000000" pitchFamily="2" charset="0"/>
      <p:regular r:id="rId13"/>
      <p:bold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gg8nrVrQIHCebcnYX+6Ez5Wxm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0C7109-C5AB-4898-B54B-1CCE95067129}">
  <a:tblStyle styleId="{B90C7109-C5AB-4898-B54B-1CCE950671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0BE8864D-3EB8-A9DC-E34D-48757EE95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F72BAD57-8EBF-27F4-97A0-3E9FC3A922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11134EC0-FC4A-4989-7EE5-E28F7AFD3B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8354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5EB026C1-99E6-E3FA-0574-6CA8178C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6732C585-84BB-D6FC-8C4C-1D534EE96A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161ECC96-5DE5-FDF7-B517-21807CEB2D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5732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11E43F18-09B0-6CC6-A9EA-87030D7D3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BBB83AB2-6AB3-1889-180B-C25F4BC05E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D2306F71-8B99-CD10-4A92-2943845D5C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9599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53A85EF5-C368-2BC1-9596-02B8F163A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4AF3EC4C-866C-4D48-FC26-F1B3B986F1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0D441920-42D8-0EA3-EC78-281BD070BF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9910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valakhorasani/gym-members-exercise-datase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datasets/valakhorasani/gym-members-exercise-dataset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8100000">
            <a:off x="14324902" y="1469072"/>
            <a:ext cx="4879847" cy="15755995"/>
          </a:xfrm>
          <a:custGeom>
            <a:avLst/>
            <a:gdLst/>
            <a:ahLst/>
            <a:cxnLst/>
            <a:rect l="l" t="t" r="r" b="b"/>
            <a:pathLst>
              <a:path w="4879847" h="15755995" extrusionOk="0">
                <a:moveTo>
                  <a:pt x="0" y="0"/>
                </a:moveTo>
                <a:lnTo>
                  <a:pt x="4879847" y="0"/>
                </a:lnTo>
                <a:lnTo>
                  <a:pt x="4879847" y="15755996"/>
                </a:lnTo>
                <a:lnTo>
                  <a:pt x="0" y="15755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25782" t="-40820" b="-52989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989016" y="2789795"/>
            <a:ext cx="8233800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s-419" sz="5400" b="1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Actividad 2 - Análisis del proceso de ML supervisado de clasificación binaria de caso práctico</a:t>
            </a:r>
          </a:p>
        </p:txBody>
      </p:sp>
      <p:sp>
        <p:nvSpPr>
          <p:cNvPr id="86" name="Google Shape;86;p1"/>
          <p:cNvSpPr/>
          <p:nvPr/>
        </p:nvSpPr>
        <p:spPr>
          <a:xfrm rot="2700000">
            <a:off x="521329" y="-3317944"/>
            <a:ext cx="2336254" cy="7543272"/>
          </a:xfrm>
          <a:custGeom>
            <a:avLst/>
            <a:gdLst/>
            <a:ahLst/>
            <a:cxnLst/>
            <a:rect l="l" t="t" r="r" b="b"/>
            <a:pathLst>
              <a:path w="2336254" h="7543272" extrusionOk="0">
                <a:moveTo>
                  <a:pt x="0" y="0"/>
                </a:moveTo>
                <a:lnTo>
                  <a:pt x="2336254" y="0"/>
                </a:lnTo>
                <a:lnTo>
                  <a:pt x="2336254" y="7543273"/>
                </a:lnTo>
                <a:lnTo>
                  <a:pt x="0" y="7543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25782" t="-40820" b="-52989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 rot="2708328">
            <a:off x="9786933" y="8499369"/>
            <a:ext cx="4018080" cy="3956261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 rot="2708328">
            <a:off x="16181728" y="6542130"/>
            <a:ext cx="4018080" cy="518660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 rot="2708328">
            <a:off x="12319185" y="8489343"/>
            <a:ext cx="4018080" cy="3956261"/>
          </a:xfrm>
          <a:prstGeom prst="rect">
            <a:avLst/>
          </a:pr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 rot="2708328">
            <a:off x="16243905" y="1811602"/>
            <a:ext cx="4018080" cy="5186608"/>
          </a:xfrm>
          <a:prstGeom prst="rect">
            <a:avLst/>
          </a:pr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 rot="2708328">
            <a:off x="-1930035" y="-2608220"/>
            <a:ext cx="4018080" cy="5186608"/>
          </a:xfrm>
          <a:prstGeom prst="rect">
            <a:avLst/>
          </a:pr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F965265-3E90-271D-C215-5F0A91D9F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174" y="7255239"/>
            <a:ext cx="6720621" cy="25043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 rot="8231041">
            <a:off x="13216914" y="-2949524"/>
            <a:ext cx="3889773" cy="12559257"/>
          </a:xfrm>
          <a:custGeom>
            <a:avLst/>
            <a:gdLst/>
            <a:ahLst/>
            <a:cxnLst/>
            <a:rect l="l" t="t" r="r" b="b"/>
            <a:pathLst>
              <a:path w="3889773" h="12559257" extrusionOk="0">
                <a:moveTo>
                  <a:pt x="0" y="0"/>
                </a:moveTo>
                <a:lnTo>
                  <a:pt x="3889773" y="0"/>
                </a:lnTo>
                <a:lnTo>
                  <a:pt x="3889773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25782" t="-40820" b="-52989"/>
            </a:stretch>
          </a:blipFill>
          <a:ln>
            <a:noFill/>
          </a:ln>
        </p:spPr>
      </p:sp>
      <p:grpSp>
        <p:nvGrpSpPr>
          <p:cNvPr id="97" name="Google Shape;97;p2"/>
          <p:cNvGrpSpPr/>
          <p:nvPr/>
        </p:nvGrpSpPr>
        <p:grpSpPr>
          <a:xfrm rot="-2468074">
            <a:off x="13858621" y="4724128"/>
            <a:ext cx="8739806" cy="5505414"/>
            <a:chOff x="0" y="-47625"/>
            <a:chExt cx="2301842" cy="1449986"/>
          </a:xfrm>
        </p:grpSpPr>
        <p:sp>
          <p:nvSpPr>
            <p:cNvPr id="98" name="Google Shape;98;p2"/>
            <p:cNvSpPr/>
            <p:nvPr/>
          </p:nvSpPr>
          <p:spPr>
            <a:xfrm>
              <a:off x="0" y="0"/>
              <a:ext cx="2301842" cy="1402361"/>
            </a:xfrm>
            <a:custGeom>
              <a:avLst/>
              <a:gdLst/>
              <a:ahLst/>
              <a:cxnLst/>
              <a:rect l="l" t="t" r="r" b="b"/>
              <a:pathLst>
                <a:path w="2301842" h="1402361" extrusionOk="0">
                  <a:moveTo>
                    <a:pt x="0" y="0"/>
                  </a:moveTo>
                  <a:lnTo>
                    <a:pt x="2301842" y="0"/>
                  </a:lnTo>
                  <a:lnTo>
                    <a:pt x="2301842" y="1402361"/>
                  </a:lnTo>
                  <a:lnTo>
                    <a:pt x="0" y="140236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</p:sp>
        <p:sp>
          <p:nvSpPr>
            <p:cNvPr id="99" name="Google Shape;99;p2"/>
            <p:cNvSpPr txBox="1"/>
            <p:nvPr/>
          </p:nvSpPr>
          <p:spPr>
            <a:xfrm>
              <a:off x="0" y="-47625"/>
              <a:ext cx="2301842" cy="1449986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2"/>
          <p:cNvGrpSpPr/>
          <p:nvPr/>
        </p:nvGrpSpPr>
        <p:grpSpPr>
          <a:xfrm rot="-2468074">
            <a:off x="15372766" y="6211268"/>
            <a:ext cx="4609127" cy="5054368"/>
            <a:chOff x="0" y="-47625"/>
            <a:chExt cx="1213926" cy="1331192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213926" cy="1283567"/>
            </a:xfrm>
            <a:custGeom>
              <a:avLst/>
              <a:gdLst/>
              <a:ahLst/>
              <a:cxnLst/>
              <a:rect l="l" t="t" r="r" b="b"/>
              <a:pathLst>
                <a:path w="1213926" h="1283567" extrusionOk="0">
                  <a:moveTo>
                    <a:pt x="0" y="0"/>
                  </a:moveTo>
                  <a:lnTo>
                    <a:pt x="1213926" y="0"/>
                  </a:lnTo>
                  <a:lnTo>
                    <a:pt x="1213926" y="1283567"/>
                  </a:lnTo>
                  <a:lnTo>
                    <a:pt x="0" y="12835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0" y="-47625"/>
              <a:ext cx="1213926" cy="1331192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0977613" y="0"/>
            <a:ext cx="7310387" cy="8224186"/>
            <a:chOff x="0" y="0"/>
            <a:chExt cx="5370413" cy="6041715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 extrusionOk="0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 extrusionOk="0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2"/>
          <p:cNvSpPr txBox="1"/>
          <p:nvPr/>
        </p:nvSpPr>
        <p:spPr>
          <a:xfrm>
            <a:off x="6639086" y="3392566"/>
            <a:ext cx="6487360" cy="391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9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Aprendizaje Automático - MIAR0525 David Alejandro Narváez Mejía </a:t>
            </a:r>
          </a:p>
          <a:p>
            <a:pPr marL="0" marR="0" lvl="0" indent="0" algn="l" rtl="0">
              <a:lnSpc>
                <a:spcPct val="199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Gladys Villegas R. PhD(C)</a:t>
            </a:r>
          </a:p>
          <a:p>
            <a:pPr marL="0" marR="0" lvl="0" indent="0" algn="l" rtl="0">
              <a:lnSpc>
                <a:spcPct val="199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 u="none" strike="noStrike" cap="none" dirty="0">
                <a:solidFill>
                  <a:srgbClr val="1F2328"/>
                </a:solidFill>
                <a:highlight>
                  <a:srgbClr val="FFFFFF"/>
                </a:highlight>
                <a:latin typeface="-apple-system"/>
                <a:ea typeface="Montserrat"/>
                <a:cs typeface="Montserrat"/>
                <a:sym typeface="Montserrat"/>
              </a:rPr>
              <a:t>05/04/2024</a:t>
            </a:r>
            <a:endParaRPr sz="2899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2433331" y="1271128"/>
            <a:ext cx="4588800" cy="130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8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Unidad 2</a:t>
            </a:r>
            <a:endParaRPr dirty="0"/>
          </a:p>
        </p:txBody>
      </p:sp>
      <p:sp>
        <p:nvSpPr>
          <p:cNvPr id="108" name="Google Shape;108;p2"/>
          <p:cNvSpPr txBox="1"/>
          <p:nvPr/>
        </p:nvSpPr>
        <p:spPr>
          <a:xfrm>
            <a:off x="2522101" y="3870192"/>
            <a:ext cx="4764738" cy="3293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Nombre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la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materia</a:t>
            </a:r>
            <a:endParaRPr lang="en-US" sz="24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Nombre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del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alumno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Nombre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del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Profesor</a:t>
            </a:r>
            <a:endParaRPr lang="en-US" sz="24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Fecha</a:t>
            </a:r>
            <a:endParaRPr dirty="0"/>
          </a:p>
        </p:txBody>
      </p:sp>
      <p:cxnSp>
        <p:nvCxnSpPr>
          <p:cNvPr id="109" name="Google Shape;109;p2"/>
          <p:cNvCxnSpPr/>
          <p:nvPr/>
        </p:nvCxnSpPr>
        <p:spPr>
          <a:xfrm rot="10800000" flipH="1">
            <a:off x="6348786" y="3713215"/>
            <a:ext cx="14967" cy="3829030"/>
          </a:xfrm>
          <a:prstGeom prst="straightConnector1">
            <a:avLst/>
          </a:prstGeom>
          <a:noFill/>
          <a:ln w="38100" cap="flat" cmpd="sng">
            <a:solidFill>
              <a:srgbClr val="052A4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0" name="Google Shape;110;p2"/>
          <p:cNvGrpSpPr/>
          <p:nvPr/>
        </p:nvGrpSpPr>
        <p:grpSpPr>
          <a:xfrm rot="2694003">
            <a:off x="-4438949" y="6839950"/>
            <a:ext cx="8739806" cy="5505414"/>
            <a:chOff x="0" y="-47625"/>
            <a:chExt cx="2301842" cy="1449986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2301842" cy="1402361"/>
            </a:xfrm>
            <a:custGeom>
              <a:avLst/>
              <a:gdLst/>
              <a:ahLst/>
              <a:cxnLst/>
              <a:rect l="l" t="t" r="r" b="b"/>
              <a:pathLst>
                <a:path w="2301842" h="1402361" extrusionOk="0">
                  <a:moveTo>
                    <a:pt x="0" y="0"/>
                  </a:moveTo>
                  <a:lnTo>
                    <a:pt x="2301842" y="0"/>
                  </a:lnTo>
                  <a:lnTo>
                    <a:pt x="2301842" y="1402361"/>
                  </a:lnTo>
                  <a:lnTo>
                    <a:pt x="0" y="1402361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47625"/>
              <a:ext cx="2301842" cy="1449986"/>
            </a:xfrm>
            <a:prstGeom prst="rect">
              <a:avLst/>
            </a:prstGeom>
            <a:solidFill>
              <a:srgbClr val="79163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/>
        </p:nvSpPr>
        <p:spPr>
          <a:xfrm>
            <a:off x="1834965" y="1283829"/>
            <a:ext cx="9215417" cy="107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8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Introducción</a:t>
            </a:r>
            <a:endParaRPr sz="708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16604357" y="5676900"/>
            <a:ext cx="2945028" cy="5777885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-1371921" y="-634385"/>
            <a:ext cx="2743842" cy="5383177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</p:sp>
      <p:sp>
        <p:nvSpPr>
          <p:cNvPr id="120" name="Google Shape;120;p3"/>
          <p:cNvSpPr/>
          <p:nvPr/>
        </p:nvSpPr>
        <p:spPr>
          <a:xfrm>
            <a:off x="17185844" y="-190500"/>
            <a:ext cx="714563" cy="1401909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</p:sp>
      <p:sp>
        <p:nvSpPr>
          <p:cNvPr id="121" name="Google Shape;121;p3"/>
          <p:cNvSpPr/>
          <p:nvPr/>
        </p:nvSpPr>
        <p:spPr>
          <a:xfrm>
            <a:off x="17362308" y="499311"/>
            <a:ext cx="714563" cy="1401909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</p:sp>
      <p:sp>
        <p:nvSpPr>
          <p:cNvPr id="122" name="Google Shape;122;p3"/>
          <p:cNvSpPr/>
          <p:nvPr/>
        </p:nvSpPr>
        <p:spPr>
          <a:xfrm>
            <a:off x="14711389" y="7425489"/>
            <a:ext cx="2945028" cy="5777885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3"/>
          <p:cNvGrpSpPr/>
          <p:nvPr/>
        </p:nvGrpSpPr>
        <p:grpSpPr>
          <a:xfrm>
            <a:off x="1581518" y="4749436"/>
            <a:ext cx="3086100" cy="579955"/>
            <a:chOff x="0" y="-19050"/>
            <a:chExt cx="812800" cy="152745"/>
          </a:xfrm>
        </p:grpSpPr>
        <p:sp>
          <p:nvSpPr>
            <p:cNvPr id="124" name="Google Shape;124;p3"/>
            <p:cNvSpPr/>
            <p:nvPr/>
          </p:nvSpPr>
          <p:spPr>
            <a:xfrm>
              <a:off x="0" y="0"/>
              <a:ext cx="812800" cy="133695"/>
            </a:xfrm>
            <a:custGeom>
              <a:avLst/>
              <a:gdLst/>
              <a:ahLst/>
              <a:cxnLst/>
              <a:rect l="l" t="t" r="r" b="b"/>
              <a:pathLst>
                <a:path w="812800" h="133695" extrusionOk="0">
                  <a:moveTo>
                    <a:pt x="66848" y="0"/>
                  </a:moveTo>
                  <a:lnTo>
                    <a:pt x="745952" y="0"/>
                  </a:lnTo>
                  <a:cubicBezTo>
                    <a:pt x="763682" y="0"/>
                    <a:pt x="780684" y="7043"/>
                    <a:pt x="793221" y="19579"/>
                  </a:cubicBezTo>
                  <a:cubicBezTo>
                    <a:pt x="805757" y="32116"/>
                    <a:pt x="812800" y="49118"/>
                    <a:pt x="812800" y="66848"/>
                  </a:cubicBezTo>
                  <a:lnTo>
                    <a:pt x="812800" y="66848"/>
                  </a:lnTo>
                  <a:cubicBezTo>
                    <a:pt x="812800" y="84577"/>
                    <a:pt x="805757" y="101580"/>
                    <a:pt x="793221" y="114116"/>
                  </a:cubicBezTo>
                  <a:cubicBezTo>
                    <a:pt x="780684" y="126652"/>
                    <a:pt x="763682" y="133695"/>
                    <a:pt x="745952" y="133695"/>
                  </a:cubicBezTo>
                  <a:lnTo>
                    <a:pt x="66848" y="133695"/>
                  </a:lnTo>
                  <a:cubicBezTo>
                    <a:pt x="49118" y="133695"/>
                    <a:pt x="32116" y="126652"/>
                    <a:pt x="19579" y="114116"/>
                  </a:cubicBezTo>
                  <a:cubicBezTo>
                    <a:pt x="7043" y="101580"/>
                    <a:pt x="0" y="84577"/>
                    <a:pt x="0" y="66848"/>
                  </a:cubicBezTo>
                  <a:lnTo>
                    <a:pt x="0" y="66848"/>
                  </a:lnTo>
                  <a:cubicBezTo>
                    <a:pt x="0" y="49118"/>
                    <a:pt x="7043" y="32116"/>
                    <a:pt x="19579" y="19579"/>
                  </a:cubicBezTo>
                  <a:cubicBezTo>
                    <a:pt x="32116" y="7043"/>
                    <a:pt x="49118" y="0"/>
                    <a:pt x="66848" y="0"/>
                  </a:cubicBez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0" y="-19050"/>
              <a:ext cx="812800" cy="152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Tema 1</a:t>
              </a:r>
              <a:endParaRPr/>
            </a:p>
          </p:txBody>
        </p:sp>
      </p:grpSp>
      <p:grpSp>
        <p:nvGrpSpPr>
          <p:cNvPr id="126" name="Google Shape;126;p3"/>
          <p:cNvGrpSpPr/>
          <p:nvPr/>
        </p:nvGrpSpPr>
        <p:grpSpPr>
          <a:xfrm>
            <a:off x="5373566" y="4749436"/>
            <a:ext cx="3086100" cy="579955"/>
            <a:chOff x="0" y="-19050"/>
            <a:chExt cx="812800" cy="152745"/>
          </a:xfrm>
        </p:grpSpPr>
        <p:sp>
          <p:nvSpPr>
            <p:cNvPr id="127" name="Google Shape;127;p3"/>
            <p:cNvSpPr/>
            <p:nvPr/>
          </p:nvSpPr>
          <p:spPr>
            <a:xfrm>
              <a:off x="0" y="0"/>
              <a:ext cx="812800" cy="133695"/>
            </a:xfrm>
            <a:custGeom>
              <a:avLst/>
              <a:gdLst/>
              <a:ahLst/>
              <a:cxnLst/>
              <a:rect l="l" t="t" r="r" b="b"/>
              <a:pathLst>
                <a:path w="812800" h="133695" extrusionOk="0">
                  <a:moveTo>
                    <a:pt x="66848" y="0"/>
                  </a:moveTo>
                  <a:lnTo>
                    <a:pt x="745952" y="0"/>
                  </a:lnTo>
                  <a:cubicBezTo>
                    <a:pt x="763682" y="0"/>
                    <a:pt x="780684" y="7043"/>
                    <a:pt x="793221" y="19579"/>
                  </a:cubicBezTo>
                  <a:cubicBezTo>
                    <a:pt x="805757" y="32116"/>
                    <a:pt x="812800" y="49118"/>
                    <a:pt x="812800" y="66848"/>
                  </a:cubicBezTo>
                  <a:lnTo>
                    <a:pt x="812800" y="66848"/>
                  </a:lnTo>
                  <a:cubicBezTo>
                    <a:pt x="812800" y="84577"/>
                    <a:pt x="805757" y="101580"/>
                    <a:pt x="793221" y="114116"/>
                  </a:cubicBezTo>
                  <a:cubicBezTo>
                    <a:pt x="780684" y="126652"/>
                    <a:pt x="763682" y="133695"/>
                    <a:pt x="745952" y="133695"/>
                  </a:cubicBezTo>
                  <a:lnTo>
                    <a:pt x="66848" y="133695"/>
                  </a:lnTo>
                  <a:cubicBezTo>
                    <a:pt x="49118" y="133695"/>
                    <a:pt x="32116" y="126652"/>
                    <a:pt x="19579" y="114116"/>
                  </a:cubicBezTo>
                  <a:cubicBezTo>
                    <a:pt x="7043" y="101580"/>
                    <a:pt x="0" y="84577"/>
                    <a:pt x="0" y="66848"/>
                  </a:cubicBezTo>
                  <a:lnTo>
                    <a:pt x="0" y="66848"/>
                  </a:lnTo>
                  <a:cubicBezTo>
                    <a:pt x="0" y="49118"/>
                    <a:pt x="7043" y="32116"/>
                    <a:pt x="19579" y="19579"/>
                  </a:cubicBezTo>
                  <a:cubicBezTo>
                    <a:pt x="32116" y="7043"/>
                    <a:pt x="49118" y="0"/>
                    <a:pt x="66848" y="0"/>
                  </a:cubicBez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0" y="-19050"/>
              <a:ext cx="812800" cy="152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u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Tema 2</a:t>
              </a:r>
              <a:endParaRPr/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9164516" y="4749436"/>
            <a:ext cx="3086100" cy="579955"/>
            <a:chOff x="0" y="-19050"/>
            <a:chExt cx="812800" cy="152745"/>
          </a:xfrm>
        </p:grpSpPr>
        <p:sp>
          <p:nvSpPr>
            <p:cNvPr id="130" name="Google Shape;130;p3"/>
            <p:cNvSpPr/>
            <p:nvPr/>
          </p:nvSpPr>
          <p:spPr>
            <a:xfrm>
              <a:off x="0" y="0"/>
              <a:ext cx="812800" cy="133695"/>
            </a:xfrm>
            <a:custGeom>
              <a:avLst/>
              <a:gdLst/>
              <a:ahLst/>
              <a:cxnLst/>
              <a:rect l="l" t="t" r="r" b="b"/>
              <a:pathLst>
                <a:path w="812800" h="133695" extrusionOk="0">
                  <a:moveTo>
                    <a:pt x="66848" y="0"/>
                  </a:moveTo>
                  <a:lnTo>
                    <a:pt x="745952" y="0"/>
                  </a:lnTo>
                  <a:cubicBezTo>
                    <a:pt x="763682" y="0"/>
                    <a:pt x="780684" y="7043"/>
                    <a:pt x="793221" y="19579"/>
                  </a:cubicBezTo>
                  <a:cubicBezTo>
                    <a:pt x="805757" y="32116"/>
                    <a:pt x="812800" y="49118"/>
                    <a:pt x="812800" y="66848"/>
                  </a:cubicBezTo>
                  <a:lnTo>
                    <a:pt x="812800" y="66848"/>
                  </a:lnTo>
                  <a:cubicBezTo>
                    <a:pt x="812800" y="84577"/>
                    <a:pt x="805757" y="101580"/>
                    <a:pt x="793221" y="114116"/>
                  </a:cubicBezTo>
                  <a:cubicBezTo>
                    <a:pt x="780684" y="126652"/>
                    <a:pt x="763682" y="133695"/>
                    <a:pt x="745952" y="133695"/>
                  </a:cubicBezTo>
                  <a:lnTo>
                    <a:pt x="66848" y="133695"/>
                  </a:lnTo>
                  <a:cubicBezTo>
                    <a:pt x="49118" y="133695"/>
                    <a:pt x="32116" y="126652"/>
                    <a:pt x="19579" y="114116"/>
                  </a:cubicBezTo>
                  <a:cubicBezTo>
                    <a:pt x="7043" y="101580"/>
                    <a:pt x="0" y="84577"/>
                    <a:pt x="0" y="66848"/>
                  </a:cubicBezTo>
                  <a:lnTo>
                    <a:pt x="0" y="66848"/>
                  </a:lnTo>
                  <a:cubicBezTo>
                    <a:pt x="0" y="49118"/>
                    <a:pt x="7043" y="32116"/>
                    <a:pt x="19579" y="19579"/>
                  </a:cubicBezTo>
                  <a:cubicBezTo>
                    <a:pt x="32116" y="7043"/>
                    <a:pt x="49118" y="0"/>
                    <a:pt x="66848" y="0"/>
                  </a:cubicBez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0" y="-19050"/>
              <a:ext cx="812800" cy="152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u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Tema 3</a:t>
              </a:r>
              <a:endParaRPr/>
            </a:p>
          </p:txBody>
        </p:sp>
      </p:grpSp>
      <p:grpSp>
        <p:nvGrpSpPr>
          <p:cNvPr id="132" name="Google Shape;132;p3"/>
          <p:cNvGrpSpPr/>
          <p:nvPr/>
        </p:nvGrpSpPr>
        <p:grpSpPr>
          <a:xfrm>
            <a:off x="12955466" y="4749436"/>
            <a:ext cx="3086100" cy="579955"/>
            <a:chOff x="0" y="-19050"/>
            <a:chExt cx="812800" cy="152745"/>
          </a:xfrm>
        </p:grpSpPr>
        <p:sp>
          <p:nvSpPr>
            <p:cNvPr id="133" name="Google Shape;133;p3"/>
            <p:cNvSpPr/>
            <p:nvPr/>
          </p:nvSpPr>
          <p:spPr>
            <a:xfrm>
              <a:off x="0" y="0"/>
              <a:ext cx="812800" cy="133695"/>
            </a:xfrm>
            <a:custGeom>
              <a:avLst/>
              <a:gdLst/>
              <a:ahLst/>
              <a:cxnLst/>
              <a:rect l="l" t="t" r="r" b="b"/>
              <a:pathLst>
                <a:path w="812800" h="133695" extrusionOk="0">
                  <a:moveTo>
                    <a:pt x="66848" y="0"/>
                  </a:moveTo>
                  <a:lnTo>
                    <a:pt x="745952" y="0"/>
                  </a:lnTo>
                  <a:cubicBezTo>
                    <a:pt x="763682" y="0"/>
                    <a:pt x="780684" y="7043"/>
                    <a:pt x="793221" y="19579"/>
                  </a:cubicBezTo>
                  <a:cubicBezTo>
                    <a:pt x="805757" y="32116"/>
                    <a:pt x="812800" y="49118"/>
                    <a:pt x="812800" y="66848"/>
                  </a:cubicBezTo>
                  <a:lnTo>
                    <a:pt x="812800" y="66848"/>
                  </a:lnTo>
                  <a:cubicBezTo>
                    <a:pt x="812800" y="84577"/>
                    <a:pt x="805757" y="101580"/>
                    <a:pt x="793221" y="114116"/>
                  </a:cubicBezTo>
                  <a:cubicBezTo>
                    <a:pt x="780684" y="126652"/>
                    <a:pt x="763682" y="133695"/>
                    <a:pt x="745952" y="133695"/>
                  </a:cubicBezTo>
                  <a:lnTo>
                    <a:pt x="66848" y="133695"/>
                  </a:lnTo>
                  <a:cubicBezTo>
                    <a:pt x="49118" y="133695"/>
                    <a:pt x="32116" y="126652"/>
                    <a:pt x="19579" y="114116"/>
                  </a:cubicBezTo>
                  <a:cubicBezTo>
                    <a:pt x="7043" y="101580"/>
                    <a:pt x="0" y="84577"/>
                    <a:pt x="0" y="66848"/>
                  </a:cubicBezTo>
                  <a:lnTo>
                    <a:pt x="0" y="66848"/>
                  </a:lnTo>
                  <a:cubicBezTo>
                    <a:pt x="0" y="49118"/>
                    <a:pt x="7043" y="32116"/>
                    <a:pt x="19579" y="19579"/>
                  </a:cubicBezTo>
                  <a:cubicBezTo>
                    <a:pt x="32116" y="7043"/>
                    <a:pt x="49118" y="0"/>
                    <a:pt x="66848" y="0"/>
                  </a:cubicBez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0" y="-19050"/>
              <a:ext cx="812800" cy="152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u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Tema 4</a:t>
              </a:r>
              <a:endParaRPr/>
            </a:p>
          </p:txBody>
        </p:sp>
      </p:grpSp>
      <p:sp>
        <p:nvSpPr>
          <p:cNvPr id="135" name="Google Shape;135;p3"/>
          <p:cNvSpPr txBox="1"/>
          <p:nvPr/>
        </p:nvSpPr>
        <p:spPr>
          <a:xfrm>
            <a:off x="1561754" y="5413546"/>
            <a:ext cx="3105864" cy="796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49" u="none" strike="noStrike" noProof="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Descripción del </a:t>
            </a:r>
            <a:r>
              <a:rPr lang="es-419" sz="1849" u="none" strike="noStrike" noProof="0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Dataset</a:t>
            </a:r>
            <a:r>
              <a:rPr lang="es-419" sz="1849" u="none" strike="noStrike" noProof="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seleccionado</a:t>
            </a:r>
            <a:endParaRPr lang="es-419" noProof="0" dirty="0"/>
          </a:p>
        </p:txBody>
      </p:sp>
      <p:sp>
        <p:nvSpPr>
          <p:cNvPr id="139" name="Google Shape;139;p3"/>
          <p:cNvSpPr txBox="1"/>
          <p:nvPr/>
        </p:nvSpPr>
        <p:spPr>
          <a:xfrm>
            <a:off x="7342332" y="2577374"/>
            <a:ext cx="3670375" cy="104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80" b="1">
                <a:solidFill>
                  <a:srgbClr val="791632"/>
                </a:solidFill>
                <a:latin typeface="Montserrat"/>
                <a:ea typeface="Montserrat"/>
                <a:cs typeface="Montserrat"/>
                <a:sym typeface="Montserrat"/>
              </a:rPr>
              <a:t>Temas</a:t>
            </a:r>
            <a:endParaRPr sz="7080" b="1" u="none" strike="noStrike">
              <a:solidFill>
                <a:srgbClr val="7916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135;p3">
            <a:extLst>
              <a:ext uri="{FF2B5EF4-FFF2-40B4-BE49-F238E27FC236}">
                <a16:creationId xmlns:a16="http://schemas.microsoft.com/office/drawing/2014/main" id="{BE420659-5768-EDE0-4139-8F6B79122B4A}"/>
              </a:ext>
            </a:extLst>
          </p:cNvPr>
          <p:cNvSpPr txBox="1"/>
          <p:nvPr/>
        </p:nvSpPr>
        <p:spPr>
          <a:xfrm>
            <a:off x="5353802" y="5459513"/>
            <a:ext cx="3105864" cy="1195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49" u="none" strike="noStrike" noProof="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Matriz de correlación y selección de variables clave</a:t>
            </a:r>
            <a:endParaRPr lang="es-419" noProof="0" dirty="0"/>
          </a:p>
        </p:txBody>
      </p:sp>
      <p:sp>
        <p:nvSpPr>
          <p:cNvPr id="5" name="Google Shape;135;p3">
            <a:extLst>
              <a:ext uri="{FF2B5EF4-FFF2-40B4-BE49-F238E27FC236}">
                <a16:creationId xmlns:a16="http://schemas.microsoft.com/office/drawing/2014/main" id="{724EFA3E-2BAF-5098-E811-73668EEE529A}"/>
              </a:ext>
            </a:extLst>
          </p:cNvPr>
          <p:cNvSpPr txBox="1"/>
          <p:nvPr/>
        </p:nvSpPr>
        <p:spPr>
          <a:xfrm>
            <a:off x="9144752" y="5459513"/>
            <a:ext cx="3105864" cy="796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49" u="none" strike="noStrike" noProof="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Estadística Descriptiva de las variables clase</a:t>
            </a:r>
            <a:endParaRPr lang="es-419" noProof="0" dirty="0"/>
          </a:p>
        </p:txBody>
      </p:sp>
      <p:sp>
        <p:nvSpPr>
          <p:cNvPr id="6" name="Google Shape;135;p3">
            <a:extLst>
              <a:ext uri="{FF2B5EF4-FFF2-40B4-BE49-F238E27FC236}">
                <a16:creationId xmlns:a16="http://schemas.microsoft.com/office/drawing/2014/main" id="{5BB8AAC1-6D1E-23E7-2BCA-EC8E02C67209}"/>
              </a:ext>
            </a:extLst>
          </p:cNvPr>
          <p:cNvSpPr txBox="1"/>
          <p:nvPr/>
        </p:nvSpPr>
        <p:spPr>
          <a:xfrm>
            <a:off x="12955466" y="5472604"/>
            <a:ext cx="3105864" cy="1195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49" u="none" strike="noStrike" noProof="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Modelos de entrenamiento y resultados obtenidos</a:t>
            </a:r>
            <a:endParaRPr lang="es-419" noProof="0" dirty="0"/>
          </a:p>
        </p:txBody>
      </p:sp>
      <p:sp>
        <p:nvSpPr>
          <p:cNvPr id="7" name="Google Shape;135;p3">
            <a:extLst>
              <a:ext uri="{FF2B5EF4-FFF2-40B4-BE49-F238E27FC236}">
                <a16:creationId xmlns:a16="http://schemas.microsoft.com/office/drawing/2014/main" id="{22BFAB77-95A7-0399-F21C-B17BED55C448}"/>
              </a:ext>
            </a:extLst>
          </p:cNvPr>
          <p:cNvSpPr txBox="1"/>
          <p:nvPr/>
        </p:nvSpPr>
        <p:spPr>
          <a:xfrm>
            <a:off x="480075" y="8003153"/>
            <a:ext cx="12316231" cy="200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s-419" sz="2800" b="1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Referencias:</a:t>
            </a:r>
          </a:p>
          <a:p>
            <a:pPr algn="l"/>
            <a:endParaRPr lang="es-419" sz="2800" b="0" i="0" dirty="0">
              <a:solidFill>
                <a:srgbClr val="1F2328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algn="l"/>
            <a:r>
              <a:rPr lang="es-419" sz="1849" dirty="0">
                <a:solidFill>
                  <a:srgbClr val="2A2E3A"/>
                </a:solidFill>
                <a:latin typeface="Montserrat"/>
              </a:rPr>
              <a:t>[1] </a:t>
            </a:r>
            <a:r>
              <a:rPr lang="es-419" sz="1849" dirty="0">
                <a:solidFill>
                  <a:srgbClr val="2A2E3A"/>
                </a:solidFill>
                <a:latin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https://www.kaggle.com/datasets/valakhorasani/gym-members-exercise-dataset</a:t>
            </a:r>
            <a:endParaRPr lang="es-419" sz="1849" dirty="0">
              <a:solidFill>
                <a:srgbClr val="2A2E3A"/>
              </a:solidFill>
              <a:latin typeface="Montserrat"/>
            </a:endParaRPr>
          </a:p>
          <a:p>
            <a:pPr algn="l"/>
            <a:r>
              <a:rPr lang="es-419" sz="1849" dirty="0">
                <a:solidFill>
                  <a:srgbClr val="2A2E3A"/>
                </a:solidFill>
                <a:latin typeface="Montserrat"/>
              </a:rPr>
              <a:t>[2] </a:t>
            </a:r>
            <a:r>
              <a:rPr lang="es-419" sz="1849" dirty="0" err="1">
                <a:solidFill>
                  <a:srgbClr val="2A2E3A"/>
                </a:solidFill>
                <a:latin typeface="Montserrat"/>
              </a:rPr>
              <a:t>Géron</a:t>
            </a:r>
            <a:r>
              <a:rPr lang="es-419" sz="1849" dirty="0">
                <a:solidFill>
                  <a:srgbClr val="2A2E3A"/>
                </a:solidFill>
                <a:latin typeface="Montserrat"/>
              </a:rPr>
              <a:t>, A. (2022). </a:t>
            </a:r>
            <a:r>
              <a:rPr lang="es-419" sz="1849" dirty="0" err="1">
                <a:solidFill>
                  <a:srgbClr val="2A2E3A"/>
                </a:solidFill>
                <a:latin typeface="Montserrat"/>
              </a:rPr>
              <a:t>Hands-On</a:t>
            </a:r>
            <a:r>
              <a:rPr lang="es-419" sz="1849" dirty="0">
                <a:solidFill>
                  <a:srgbClr val="2A2E3A"/>
                </a:solidFill>
                <a:latin typeface="Montserrat"/>
              </a:rPr>
              <a:t> Machine </a:t>
            </a:r>
            <a:r>
              <a:rPr lang="es-419" sz="1849" dirty="0" err="1">
                <a:solidFill>
                  <a:srgbClr val="2A2E3A"/>
                </a:solidFill>
                <a:latin typeface="Montserrat"/>
              </a:rPr>
              <a:t>Learning</a:t>
            </a:r>
            <a:r>
              <a:rPr lang="es-419" sz="1849" dirty="0">
                <a:solidFill>
                  <a:srgbClr val="2A2E3A"/>
                </a:solidFill>
                <a:latin typeface="Montserrat"/>
              </a:rPr>
              <a:t> </a:t>
            </a:r>
            <a:r>
              <a:rPr lang="es-419" sz="1849" dirty="0" err="1">
                <a:solidFill>
                  <a:srgbClr val="2A2E3A"/>
                </a:solidFill>
                <a:latin typeface="Montserrat"/>
              </a:rPr>
              <a:t>with</a:t>
            </a:r>
            <a:r>
              <a:rPr lang="es-419" sz="1849" dirty="0">
                <a:solidFill>
                  <a:srgbClr val="2A2E3A"/>
                </a:solidFill>
                <a:latin typeface="Montserrat"/>
              </a:rPr>
              <a:t> </a:t>
            </a:r>
            <a:r>
              <a:rPr lang="es-419" sz="1849" dirty="0" err="1">
                <a:solidFill>
                  <a:srgbClr val="2A2E3A"/>
                </a:solidFill>
                <a:latin typeface="Montserrat"/>
              </a:rPr>
              <a:t>Scikit-Learn</a:t>
            </a:r>
            <a:r>
              <a:rPr lang="es-419" sz="1849" dirty="0">
                <a:solidFill>
                  <a:srgbClr val="2A2E3A"/>
                </a:solidFill>
                <a:latin typeface="Montserrat"/>
              </a:rPr>
              <a:t>, </a:t>
            </a:r>
            <a:r>
              <a:rPr lang="es-419" sz="1849" dirty="0" err="1">
                <a:solidFill>
                  <a:srgbClr val="2A2E3A"/>
                </a:solidFill>
                <a:latin typeface="Montserrat"/>
              </a:rPr>
              <a:t>Keras</a:t>
            </a:r>
            <a:r>
              <a:rPr lang="es-419" sz="1849" dirty="0">
                <a:solidFill>
                  <a:srgbClr val="2A2E3A"/>
                </a:solidFill>
                <a:latin typeface="Montserrat"/>
              </a:rPr>
              <a:t>, and </a:t>
            </a:r>
            <a:r>
              <a:rPr lang="es-419" sz="1849" dirty="0" err="1">
                <a:solidFill>
                  <a:srgbClr val="2A2E3A"/>
                </a:solidFill>
                <a:latin typeface="Montserrat"/>
              </a:rPr>
              <a:t>TensorFlow</a:t>
            </a:r>
            <a:r>
              <a:rPr lang="es-419" sz="1849" dirty="0">
                <a:solidFill>
                  <a:srgbClr val="2A2E3A"/>
                </a:solidFill>
                <a:latin typeface="Montserrat"/>
              </a:rPr>
              <a:t>: </a:t>
            </a:r>
            <a:r>
              <a:rPr lang="es-419" sz="1849" dirty="0" err="1">
                <a:solidFill>
                  <a:srgbClr val="2A2E3A"/>
                </a:solidFill>
                <a:latin typeface="Montserrat"/>
              </a:rPr>
              <a:t>Concepts</a:t>
            </a:r>
            <a:r>
              <a:rPr lang="es-419" sz="1849" dirty="0">
                <a:solidFill>
                  <a:srgbClr val="2A2E3A"/>
                </a:solidFill>
                <a:latin typeface="Montserrat"/>
              </a:rPr>
              <a:t>, Tools, and </a:t>
            </a:r>
            <a:r>
              <a:rPr lang="es-419" sz="1849" dirty="0" err="1">
                <a:solidFill>
                  <a:srgbClr val="2A2E3A"/>
                </a:solidFill>
                <a:latin typeface="Montserrat"/>
              </a:rPr>
              <a:t>Techniques</a:t>
            </a:r>
            <a:r>
              <a:rPr lang="es-419" sz="1849" dirty="0">
                <a:solidFill>
                  <a:srgbClr val="2A2E3A"/>
                </a:solidFill>
                <a:latin typeface="Montserrat"/>
              </a:rPr>
              <a:t> </a:t>
            </a:r>
            <a:r>
              <a:rPr lang="es-419" sz="1849" dirty="0" err="1">
                <a:solidFill>
                  <a:srgbClr val="2A2E3A"/>
                </a:solidFill>
                <a:latin typeface="Montserrat"/>
              </a:rPr>
              <a:t>to</a:t>
            </a:r>
            <a:r>
              <a:rPr lang="es-419" sz="1849" dirty="0">
                <a:solidFill>
                  <a:srgbClr val="2A2E3A"/>
                </a:solidFill>
                <a:latin typeface="Montserrat"/>
              </a:rPr>
              <a:t> </a:t>
            </a:r>
            <a:r>
              <a:rPr lang="es-419" sz="1849" dirty="0" err="1">
                <a:solidFill>
                  <a:srgbClr val="2A2E3A"/>
                </a:solidFill>
                <a:latin typeface="Montserrat"/>
              </a:rPr>
              <a:t>Build</a:t>
            </a:r>
            <a:r>
              <a:rPr lang="es-419" sz="1849" dirty="0">
                <a:solidFill>
                  <a:srgbClr val="2A2E3A"/>
                </a:solidFill>
                <a:latin typeface="Montserrat"/>
              </a:rPr>
              <a:t> </a:t>
            </a:r>
            <a:r>
              <a:rPr lang="es-419" sz="1849" dirty="0" err="1">
                <a:solidFill>
                  <a:srgbClr val="2A2E3A"/>
                </a:solidFill>
                <a:latin typeface="Montserrat"/>
              </a:rPr>
              <a:t>Intelligent</a:t>
            </a:r>
            <a:r>
              <a:rPr lang="es-419" sz="1849" dirty="0">
                <a:solidFill>
                  <a:srgbClr val="2A2E3A"/>
                </a:solidFill>
                <a:latin typeface="Montserrat"/>
              </a:rPr>
              <a:t> </a:t>
            </a:r>
            <a:r>
              <a:rPr lang="es-419" sz="1849" dirty="0" err="1">
                <a:solidFill>
                  <a:srgbClr val="2A2E3A"/>
                </a:solidFill>
                <a:latin typeface="Montserrat"/>
              </a:rPr>
              <a:t>Systems</a:t>
            </a:r>
            <a:r>
              <a:rPr lang="es-419" sz="1849" dirty="0">
                <a:solidFill>
                  <a:srgbClr val="2A2E3A"/>
                </a:solidFill>
                <a:latin typeface="Montserrat"/>
              </a:rPr>
              <a:t> (3rd ed.). O'Reilly Media.</a:t>
            </a:r>
          </a:p>
          <a:p>
            <a:pPr algn="l"/>
            <a:r>
              <a:rPr lang="es-419" sz="1849" dirty="0">
                <a:solidFill>
                  <a:srgbClr val="2A2E3A"/>
                </a:solidFill>
                <a:latin typeface="Montserrat"/>
              </a:rPr>
              <a:t>[3] </a:t>
            </a:r>
            <a:r>
              <a:rPr lang="es-419" sz="1849" dirty="0" err="1">
                <a:solidFill>
                  <a:srgbClr val="2A2E3A"/>
                </a:solidFill>
                <a:latin typeface="Montserrat"/>
              </a:rPr>
              <a:t>Codigo</a:t>
            </a:r>
            <a:r>
              <a:rPr lang="es-419" sz="1849" dirty="0">
                <a:solidFill>
                  <a:srgbClr val="2A2E3A"/>
                </a:solidFill>
                <a:latin typeface="Montserrat"/>
              </a:rPr>
              <a:t> Fuente: </a:t>
            </a:r>
            <a:r>
              <a:rPr lang="es-419" sz="1849" dirty="0" err="1">
                <a:solidFill>
                  <a:srgbClr val="2A2E3A"/>
                </a:solidFill>
                <a:latin typeface="Montserrat"/>
              </a:rPr>
              <a:t>Modelos_Supervisados_labGuiado.ipynb</a:t>
            </a:r>
            <a:endParaRPr lang="es-419" sz="1849" dirty="0">
              <a:solidFill>
                <a:srgbClr val="2A2E3A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 rot="-9976565">
            <a:off x="11215296" y="-959429"/>
            <a:ext cx="3893977" cy="12572829"/>
          </a:xfrm>
          <a:custGeom>
            <a:avLst/>
            <a:gdLst/>
            <a:ahLst/>
            <a:cxnLst/>
            <a:rect l="l" t="t" r="r" b="b"/>
            <a:pathLst>
              <a:path w="3889773" h="12559257" extrusionOk="0">
                <a:moveTo>
                  <a:pt x="0" y="0"/>
                </a:moveTo>
                <a:lnTo>
                  <a:pt x="3889773" y="0"/>
                </a:lnTo>
                <a:lnTo>
                  <a:pt x="3889773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25782" t="-40820" b="-52989"/>
            </a:stretch>
          </a:blipFill>
          <a:ln>
            <a:noFill/>
          </a:ln>
        </p:spPr>
      </p:sp>
      <p:sp>
        <p:nvSpPr>
          <p:cNvPr id="145" name="Google Shape;145;p9"/>
          <p:cNvSpPr/>
          <p:nvPr/>
        </p:nvSpPr>
        <p:spPr>
          <a:xfrm>
            <a:off x="9349945" y="2462555"/>
            <a:ext cx="9617378" cy="11495582"/>
          </a:xfrm>
          <a:custGeom>
            <a:avLst/>
            <a:gdLst/>
            <a:ahLst/>
            <a:cxnLst/>
            <a:rect l="l" t="t" r="r" b="b"/>
            <a:pathLst>
              <a:path w="8606155" h="10286874" extrusionOk="0">
                <a:moveTo>
                  <a:pt x="8606155" y="10251441"/>
                </a:moveTo>
                <a:cubicBezTo>
                  <a:pt x="8606155" y="10284588"/>
                  <a:pt x="8595487" y="10286874"/>
                  <a:pt x="8567674" y="10286874"/>
                </a:cubicBezTo>
                <a:cubicBezTo>
                  <a:pt x="5713094" y="10286239"/>
                  <a:pt x="2858643" y="10286239"/>
                  <a:pt x="4064" y="10286239"/>
                </a:cubicBezTo>
                <a:cubicBezTo>
                  <a:pt x="0" y="10272396"/>
                  <a:pt x="6350" y="10259823"/>
                  <a:pt x="9271" y="10246996"/>
                </a:cubicBezTo>
                <a:cubicBezTo>
                  <a:pt x="134747" y="9685402"/>
                  <a:pt x="260350" y="9123935"/>
                  <a:pt x="386207" y="8562467"/>
                </a:cubicBezTo>
                <a:cubicBezTo>
                  <a:pt x="565658" y="7761986"/>
                  <a:pt x="745490" y="6961633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6"/>
                  <a:pt x="8605139" y="6846317"/>
                  <a:pt x="8606155" y="10251441"/>
                </a:cubicBezTo>
                <a:close/>
              </a:path>
            </a:pathLst>
          </a:custGeom>
          <a:solidFill>
            <a:srgbClr val="791632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"/>
          <p:cNvSpPr txBox="1"/>
          <p:nvPr/>
        </p:nvSpPr>
        <p:spPr>
          <a:xfrm>
            <a:off x="200924" y="2828138"/>
            <a:ext cx="4858800" cy="9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46" b="1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Objetivos</a:t>
            </a:r>
            <a:endParaRPr dirty="0"/>
          </a:p>
        </p:txBody>
      </p:sp>
      <p:sp>
        <p:nvSpPr>
          <p:cNvPr id="147" name="Google Shape;147;p9"/>
          <p:cNvSpPr txBox="1"/>
          <p:nvPr/>
        </p:nvSpPr>
        <p:spPr>
          <a:xfrm>
            <a:off x="544717" y="4359245"/>
            <a:ext cx="1731000" cy="15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0" b="1">
                <a:solidFill>
                  <a:srgbClr val="79163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>
              <a:solidFill>
                <a:srgbClr val="791632"/>
              </a:solidFill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544717" y="6323545"/>
            <a:ext cx="1731000" cy="15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0" b="1">
                <a:solidFill>
                  <a:srgbClr val="79163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>
              <a:solidFill>
                <a:srgbClr val="791632"/>
              </a:solidFill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2454816" y="4683152"/>
            <a:ext cx="8412900" cy="1313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32" dirty="0">
                <a:solidFill>
                  <a:srgbClr val="2A2E3A"/>
                </a:solidFill>
                <a:latin typeface="Montserrat"/>
              </a:rPr>
              <a:t>Desarrollar, entrenar y comparar clasificadores supervisados usando SVM y Árboles de Decisión, aplicados a un </a:t>
            </a:r>
            <a:r>
              <a:rPr lang="es-419" sz="2032" dirty="0" err="1">
                <a:solidFill>
                  <a:srgbClr val="2A2E3A"/>
                </a:solidFill>
                <a:latin typeface="Montserrat"/>
              </a:rPr>
              <a:t>dataset</a:t>
            </a:r>
            <a:r>
              <a:rPr lang="es-419" sz="2032" dirty="0">
                <a:solidFill>
                  <a:srgbClr val="2A2E3A"/>
                </a:solidFill>
                <a:latin typeface="Montserrat"/>
              </a:rPr>
              <a:t> para ML supervisado de clasificación.</a:t>
            </a:r>
            <a:endParaRPr sz="2032" dirty="0">
              <a:solidFill>
                <a:srgbClr val="2A2E3A"/>
              </a:solidFill>
              <a:latin typeface="Montserrat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2454816" y="6970462"/>
            <a:ext cx="8412900" cy="43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32" u="none" strike="noStrike" noProof="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Generar y compartir un repositorio</a:t>
            </a:r>
            <a:endParaRPr lang="es-419" noProof="0" dirty="0"/>
          </a:p>
        </p:txBody>
      </p:sp>
      <p:sp>
        <p:nvSpPr>
          <p:cNvPr id="153" name="Google Shape;153;p9"/>
          <p:cNvSpPr/>
          <p:nvPr/>
        </p:nvSpPr>
        <p:spPr>
          <a:xfrm>
            <a:off x="200924" y="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</p:sp>
      <p:sp>
        <p:nvSpPr>
          <p:cNvPr id="154" name="Google Shape;154;p9"/>
          <p:cNvSpPr/>
          <p:nvPr/>
        </p:nvSpPr>
        <p:spPr>
          <a:xfrm>
            <a:off x="1066372" y="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4"/>
          <p:cNvGrpSpPr/>
          <p:nvPr/>
        </p:nvGrpSpPr>
        <p:grpSpPr>
          <a:xfrm>
            <a:off x="-190500" y="-171651"/>
            <a:ext cx="18669114" cy="3130468"/>
            <a:chOff x="0" y="-47625"/>
            <a:chExt cx="4816593" cy="1115276"/>
          </a:xfrm>
        </p:grpSpPr>
        <p:sp>
          <p:nvSpPr>
            <p:cNvPr id="160" name="Google Shape;160;p4"/>
            <p:cNvSpPr/>
            <p:nvPr/>
          </p:nvSpPr>
          <p:spPr>
            <a:xfrm>
              <a:off x="0" y="0"/>
              <a:ext cx="4816592" cy="1067651"/>
            </a:xfrm>
            <a:custGeom>
              <a:avLst/>
              <a:gdLst/>
              <a:ahLst/>
              <a:cxnLst/>
              <a:rect l="l" t="t" r="r" b="b"/>
              <a:pathLst>
                <a:path w="4816592" h="106765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67651"/>
                  </a:lnTo>
                  <a:lnTo>
                    <a:pt x="0" y="1067651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</p:sp>
        <p:sp>
          <p:nvSpPr>
            <p:cNvPr id="161" name="Google Shape;161;p4"/>
            <p:cNvSpPr txBox="1"/>
            <p:nvPr/>
          </p:nvSpPr>
          <p:spPr>
            <a:xfrm>
              <a:off x="0" y="-47625"/>
              <a:ext cx="4816593" cy="1115276"/>
            </a:xfrm>
            <a:prstGeom prst="rect">
              <a:avLst/>
            </a:prstGeom>
            <a:solidFill>
              <a:srgbClr val="79163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4"/>
          <p:cNvSpPr txBox="1"/>
          <p:nvPr/>
        </p:nvSpPr>
        <p:spPr>
          <a:xfrm>
            <a:off x="1756086" y="1277707"/>
            <a:ext cx="7578300" cy="1232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75" b="1" dirty="0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Tema 1: Dataset 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0929CE-EED9-7BD3-C96B-5A0A4954C03A}"/>
              </a:ext>
            </a:extLst>
          </p:cNvPr>
          <p:cNvSpPr txBox="1"/>
          <p:nvPr/>
        </p:nvSpPr>
        <p:spPr>
          <a:xfrm>
            <a:off x="375927" y="5695828"/>
            <a:ext cx="933572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dirty="0">
                <a:solidFill>
                  <a:srgbClr val="2A2E3A"/>
                </a:solidFill>
                <a:latin typeface="Montserrat"/>
              </a:rPr>
              <a:t>Variables a </a:t>
            </a:r>
            <a:r>
              <a:rPr lang="en-US" dirty="0" err="1">
                <a:solidFill>
                  <a:srgbClr val="2A2E3A"/>
                </a:solidFill>
                <a:latin typeface="Montserrat"/>
              </a:rPr>
              <a:t>trabajar</a:t>
            </a:r>
            <a:r>
              <a:rPr lang="en-US" dirty="0">
                <a:solidFill>
                  <a:srgbClr val="2A2E3A"/>
                </a:solidFill>
                <a:latin typeface="Montserrat"/>
              </a:rPr>
              <a:t>:</a:t>
            </a:r>
          </a:p>
          <a:p>
            <a:pPr algn="l" fontAlgn="base"/>
            <a:endParaRPr lang="en-US" dirty="0">
              <a:solidFill>
                <a:srgbClr val="2A2E3A"/>
              </a:solidFill>
              <a:latin typeface="Montserrat"/>
            </a:endParaRPr>
          </a:p>
          <a:p>
            <a:pPr marL="285750" lvl="8" indent="-28575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A2E3A"/>
                </a:solidFill>
                <a:latin typeface="Montserrat"/>
              </a:rPr>
              <a:t>Age: Age of the gym member.</a:t>
            </a:r>
          </a:p>
          <a:p>
            <a:pPr marL="285750" lvl="8" indent="-28575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A2E3A"/>
                </a:solidFill>
                <a:latin typeface="Montserrat"/>
              </a:rPr>
              <a:t>Gender: Gender of the gym member (Male or Female).</a:t>
            </a:r>
          </a:p>
          <a:p>
            <a:pPr marL="285750" lvl="8" indent="-28575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A2E3A"/>
                </a:solidFill>
                <a:latin typeface="Montserrat"/>
              </a:rPr>
              <a:t>Weight (kg): Member’s weight in kilograms.</a:t>
            </a:r>
          </a:p>
          <a:p>
            <a:pPr marL="285750" lvl="8" indent="-28575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A2E3A"/>
                </a:solidFill>
                <a:latin typeface="Montserrat"/>
              </a:rPr>
              <a:t>Height (m): Member’s height in meters.</a:t>
            </a:r>
          </a:p>
          <a:p>
            <a:pPr marL="285750" lvl="8" indent="-285750" fontAlgn="base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A2E3A"/>
                </a:solidFill>
                <a:latin typeface="Montserrat"/>
              </a:rPr>
              <a:t>Max_BPM</a:t>
            </a:r>
            <a:r>
              <a:rPr lang="en-US" dirty="0">
                <a:solidFill>
                  <a:srgbClr val="2A2E3A"/>
                </a:solidFill>
                <a:latin typeface="Montserrat"/>
              </a:rPr>
              <a:t>: Maximum heart rate (beats per minute) during workout sessions.</a:t>
            </a:r>
          </a:p>
          <a:p>
            <a:pPr marL="285750" lvl="8" indent="-285750" fontAlgn="base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A2E3A"/>
                </a:solidFill>
                <a:latin typeface="Montserrat"/>
              </a:rPr>
              <a:t>Avg_BPM</a:t>
            </a:r>
            <a:r>
              <a:rPr lang="en-US" dirty="0">
                <a:solidFill>
                  <a:srgbClr val="2A2E3A"/>
                </a:solidFill>
                <a:latin typeface="Montserrat"/>
              </a:rPr>
              <a:t>: Average heart rate during workout sessions.</a:t>
            </a:r>
          </a:p>
          <a:p>
            <a:pPr marL="285750" lvl="8" indent="-285750" fontAlgn="base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A2E3A"/>
                </a:solidFill>
                <a:latin typeface="Montserrat"/>
              </a:rPr>
              <a:t>Resting_BPM</a:t>
            </a:r>
            <a:r>
              <a:rPr lang="en-US" dirty="0">
                <a:solidFill>
                  <a:srgbClr val="2A2E3A"/>
                </a:solidFill>
                <a:latin typeface="Montserrat"/>
              </a:rPr>
              <a:t>: Heart rate at rest before workout.</a:t>
            </a:r>
          </a:p>
          <a:p>
            <a:pPr marL="285750" lvl="8" indent="-285750" fontAlgn="base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A2E3A"/>
                </a:solidFill>
                <a:latin typeface="Montserrat"/>
              </a:rPr>
              <a:t>Session_Duration</a:t>
            </a:r>
            <a:r>
              <a:rPr lang="en-US" dirty="0">
                <a:solidFill>
                  <a:srgbClr val="2A2E3A"/>
                </a:solidFill>
                <a:latin typeface="Montserrat"/>
              </a:rPr>
              <a:t> (hours): Duration of each workout session in hours.</a:t>
            </a:r>
          </a:p>
          <a:p>
            <a:pPr marL="285750" lvl="8" indent="-285750" fontAlgn="base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A2E3A"/>
                </a:solidFill>
                <a:latin typeface="Montserrat"/>
              </a:rPr>
              <a:t>Calories_Burned</a:t>
            </a:r>
            <a:r>
              <a:rPr lang="en-US" dirty="0">
                <a:solidFill>
                  <a:srgbClr val="2A2E3A"/>
                </a:solidFill>
                <a:latin typeface="Montserrat"/>
              </a:rPr>
              <a:t>: Total calories burned during each session.</a:t>
            </a:r>
          </a:p>
          <a:p>
            <a:pPr marL="285750" lvl="8" indent="-285750" fontAlgn="base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A2E3A"/>
                </a:solidFill>
                <a:latin typeface="Montserrat"/>
              </a:rPr>
              <a:t>Workout_Type</a:t>
            </a:r>
            <a:r>
              <a:rPr lang="en-US" dirty="0">
                <a:solidFill>
                  <a:srgbClr val="2A2E3A"/>
                </a:solidFill>
                <a:latin typeface="Montserrat"/>
              </a:rPr>
              <a:t>: Type of workout performed (e.g., Cardio, Strength, Yoga, HIIT).</a:t>
            </a:r>
          </a:p>
          <a:p>
            <a:pPr marL="285750" lvl="8" indent="-285750" fontAlgn="base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A2E3A"/>
                </a:solidFill>
                <a:latin typeface="Montserrat"/>
              </a:rPr>
              <a:t>Fat_Percentage</a:t>
            </a:r>
            <a:r>
              <a:rPr lang="en-US" dirty="0">
                <a:solidFill>
                  <a:srgbClr val="2A2E3A"/>
                </a:solidFill>
                <a:latin typeface="Montserrat"/>
              </a:rPr>
              <a:t>: Body fat percentage of the member.</a:t>
            </a:r>
          </a:p>
          <a:p>
            <a:pPr marL="285750" lvl="8" indent="-285750" fontAlgn="base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A2E3A"/>
                </a:solidFill>
                <a:latin typeface="Montserrat"/>
              </a:rPr>
              <a:t>Water_Intake</a:t>
            </a:r>
            <a:r>
              <a:rPr lang="en-US" dirty="0">
                <a:solidFill>
                  <a:srgbClr val="2A2E3A"/>
                </a:solidFill>
                <a:latin typeface="Montserrat"/>
              </a:rPr>
              <a:t> (liters): Daily water intake during workouts.</a:t>
            </a:r>
          </a:p>
          <a:p>
            <a:pPr marL="285750" lvl="8" indent="-285750" fontAlgn="base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A2E3A"/>
                </a:solidFill>
                <a:latin typeface="Montserrat"/>
              </a:rPr>
              <a:t>Workout_Frequency</a:t>
            </a:r>
            <a:r>
              <a:rPr lang="en-US" dirty="0">
                <a:solidFill>
                  <a:srgbClr val="2A2E3A"/>
                </a:solidFill>
                <a:latin typeface="Montserrat"/>
              </a:rPr>
              <a:t> (days/week): Number of workout sessions per week.</a:t>
            </a:r>
          </a:p>
          <a:p>
            <a:pPr marL="285750" lvl="8" indent="-285750" fontAlgn="base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A2E3A"/>
                </a:solidFill>
                <a:latin typeface="Montserrat"/>
              </a:rPr>
              <a:t>Experience_Level</a:t>
            </a:r>
            <a:r>
              <a:rPr lang="en-US" dirty="0">
                <a:solidFill>
                  <a:srgbClr val="2A2E3A"/>
                </a:solidFill>
                <a:latin typeface="Montserrat"/>
              </a:rPr>
              <a:t>: Level of experience, from beginner (1) to expert (3).</a:t>
            </a:r>
          </a:p>
          <a:p>
            <a:pPr marL="285750" lvl="8" indent="-28575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A2E3A"/>
                </a:solidFill>
                <a:latin typeface="Montserrat"/>
              </a:rPr>
              <a:t>BMI: Body Mass Index, calculated from height and weight.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40C177-049C-51D5-FA2D-370D1777271B}"/>
              </a:ext>
            </a:extLst>
          </p:cNvPr>
          <p:cNvSpPr txBox="1"/>
          <p:nvPr/>
        </p:nvSpPr>
        <p:spPr>
          <a:xfrm>
            <a:off x="375927" y="3292619"/>
            <a:ext cx="8532099" cy="2172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3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2A2E3A"/>
                </a:solidFill>
                <a:latin typeface="Montserrat"/>
              </a:rPr>
              <a:t>Este conjunto de datos proporciona una visión integral de las rutinas de ejercicio, características físicas y métricas de rendimiento de los miembros de un gimnasio. Incluye 973 registros que recopilan indicadores clave como frecuencia cardíaca, calorías quemadas y duración de las sesiones de entrenamiento. Además, incorpora variables demográficas y niveles de experiencia, lo que permite realizar análisis detallados sobre patrones de actividad física, progresión del desempeño atlético y tendencias generales de salud y acondicionamiento físico.</a:t>
            </a:r>
          </a:p>
        </p:txBody>
      </p:sp>
      <p:pic>
        <p:nvPicPr>
          <p:cNvPr id="1026" name="Picture 2" descr="Alcanza tus objetivos de salud y fitness con el nuevo Venu 3 - Garmin Blog  Mexico">
            <a:extLst>
              <a:ext uri="{FF2B5EF4-FFF2-40B4-BE49-F238E27FC236}">
                <a16:creationId xmlns:a16="http://schemas.microsoft.com/office/drawing/2014/main" id="{C3AD3871-D1B5-1C99-1EBA-AEFB1E7F5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853" y="4157717"/>
            <a:ext cx="8206220" cy="4595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2A4555B-130E-9DAE-28F4-A9A2CD281209}"/>
              </a:ext>
            </a:extLst>
          </p:cNvPr>
          <p:cNvSpPr txBox="1"/>
          <p:nvPr/>
        </p:nvSpPr>
        <p:spPr>
          <a:xfrm>
            <a:off x="184355" y="9801272"/>
            <a:ext cx="93357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419" sz="1400" dirty="0">
                <a:solidFill>
                  <a:srgbClr val="2A2E3A"/>
                </a:solidFill>
                <a:latin typeface="Montserrat"/>
              </a:rPr>
              <a:t>[1] </a:t>
            </a:r>
            <a:r>
              <a:rPr lang="es-419" sz="1400" dirty="0">
                <a:solidFill>
                  <a:srgbClr val="2A2E3A"/>
                </a:solidFill>
                <a:latin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https://www.kaggle.com/datasets/valakhorasani/gym-members-exercise-dataset</a:t>
            </a:r>
            <a:endParaRPr lang="es-419" sz="1400" dirty="0">
              <a:solidFill>
                <a:srgbClr val="2A2E3A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8743C1A9-A14B-AACB-4291-65D77A96D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4">
            <a:extLst>
              <a:ext uri="{FF2B5EF4-FFF2-40B4-BE49-F238E27FC236}">
                <a16:creationId xmlns:a16="http://schemas.microsoft.com/office/drawing/2014/main" id="{BDF84096-7393-4C6E-5804-C2869166FD9F}"/>
              </a:ext>
            </a:extLst>
          </p:cNvPr>
          <p:cNvGrpSpPr/>
          <p:nvPr/>
        </p:nvGrpSpPr>
        <p:grpSpPr>
          <a:xfrm>
            <a:off x="-190500" y="-171651"/>
            <a:ext cx="18669114" cy="3130468"/>
            <a:chOff x="0" y="-47625"/>
            <a:chExt cx="4816593" cy="1115276"/>
          </a:xfrm>
        </p:grpSpPr>
        <p:sp>
          <p:nvSpPr>
            <p:cNvPr id="160" name="Google Shape;160;p4">
              <a:extLst>
                <a:ext uri="{FF2B5EF4-FFF2-40B4-BE49-F238E27FC236}">
                  <a16:creationId xmlns:a16="http://schemas.microsoft.com/office/drawing/2014/main" id="{58916247-0DB0-5F20-7B08-4E355CB82BE6}"/>
                </a:ext>
              </a:extLst>
            </p:cNvPr>
            <p:cNvSpPr/>
            <p:nvPr/>
          </p:nvSpPr>
          <p:spPr>
            <a:xfrm>
              <a:off x="0" y="0"/>
              <a:ext cx="4816592" cy="1067651"/>
            </a:xfrm>
            <a:custGeom>
              <a:avLst/>
              <a:gdLst/>
              <a:ahLst/>
              <a:cxnLst/>
              <a:rect l="l" t="t" r="r" b="b"/>
              <a:pathLst>
                <a:path w="4816592" h="106765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67651"/>
                  </a:lnTo>
                  <a:lnTo>
                    <a:pt x="0" y="1067651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</p:sp>
        <p:sp>
          <p:nvSpPr>
            <p:cNvPr id="161" name="Google Shape;161;p4">
              <a:extLst>
                <a:ext uri="{FF2B5EF4-FFF2-40B4-BE49-F238E27FC236}">
                  <a16:creationId xmlns:a16="http://schemas.microsoft.com/office/drawing/2014/main" id="{9E45B6DA-2985-4BB9-C109-D1247A54508D}"/>
                </a:ext>
              </a:extLst>
            </p:cNvPr>
            <p:cNvSpPr txBox="1"/>
            <p:nvPr/>
          </p:nvSpPr>
          <p:spPr>
            <a:xfrm>
              <a:off x="0" y="-47625"/>
              <a:ext cx="4816593" cy="1115276"/>
            </a:xfrm>
            <a:prstGeom prst="rect">
              <a:avLst/>
            </a:prstGeom>
            <a:solidFill>
              <a:srgbClr val="79163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E1E2A218-7666-DE75-4DC4-4A88AFBD4F48}"/>
              </a:ext>
            </a:extLst>
          </p:cNvPr>
          <p:cNvSpPr txBox="1"/>
          <p:nvPr/>
        </p:nvSpPr>
        <p:spPr>
          <a:xfrm>
            <a:off x="1756085" y="1277707"/>
            <a:ext cx="11782933" cy="1232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675" b="1" noProof="0" dirty="0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Tema 2: MTX correlación </a:t>
            </a:r>
            <a:endParaRPr lang="es-419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2AF9DA-17E6-1546-9E0C-0412C8342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551" y="3499096"/>
            <a:ext cx="10517068" cy="623021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3C1AD48-D013-3B74-BB9A-61F65C85B787}"/>
              </a:ext>
            </a:extLst>
          </p:cNvPr>
          <p:cNvSpPr txBox="1"/>
          <p:nvPr/>
        </p:nvSpPr>
        <p:spPr>
          <a:xfrm>
            <a:off x="375928" y="4019777"/>
            <a:ext cx="7271623" cy="5188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9960"/>
              </a:lnSpc>
            </a:pPr>
            <a:r>
              <a:rPr lang="es-419" dirty="0">
                <a:solidFill>
                  <a:srgbClr val="2A2E3A"/>
                </a:solidFill>
                <a:latin typeface="Montserrat"/>
              </a:rPr>
              <a:t>Con base en la matriz de correlación presentada, como analista de datos se identifican las cuatro relaciones más fuertes entre variables numéricas, con un lenguaje técnico:</a:t>
            </a:r>
          </a:p>
          <a:p>
            <a:pPr algn="just">
              <a:lnSpc>
                <a:spcPct val="139960"/>
              </a:lnSpc>
            </a:pPr>
            <a:endParaRPr lang="es-419" dirty="0">
              <a:solidFill>
                <a:srgbClr val="2A2E3A"/>
              </a:solidFill>
              <a:latin typeface="Montserrat"/>
            </a:endParaRPr>
          </a:p>
          <a:p>
            <a:pPr marL="342900" indent="-342900" algn="just">
              <a:lnSpc>
                <a:spcPct val="139960"/>
              </a:lnSpc>
              <a:buFont typeface="+mj-lt"/>
              <a:buAutoNum type="arabicPeriod"/>
            </a:pPr>
            <a:r>
              <a:rPr lang="es-419" b="1" dirty="0" err="1">
                <a:solidFill>
                  <a:srgbClr val="2A2E3A"/>
                </a:solidFill>
                <a:latin typeface="Montserrat"/>
              </a:rPr>
              <a:t>Calories_Burned</a:t>
            </a:r>
            <a:r>
              <a:rPr lang="es-419" b="1" dirty="0">
                <a:solidFill>
                  <a:srgbClr val="2A2E3A"/>
                </a:solidFill>
                <a:latin typeface="Montserrat"/>
              </a:rPr>
              <a:t> y </a:t>
            </a:r>
            <a:r>
              <a:rPr lang="es-419" b="1" dirty="0" err="1">
                <a:solidFill>
                  <a:srgbClr val="2A2E3A"/>
                </a:solidFill>
                <a:latin typeface="Montserrat"/>
              </a:rPr>
              <a:t>Session_Duration</a:t>
            </a:r>
            <a:r>
              <a:rPr lang="es-419" b="1" dirty="0">
                <a:solidFill>
                  <a:srgbClr val="2A2E3A"/>
                </a:solidFill>
                <a:latin typeface="Montserrat"/>
              </a:rPr>
              <a:t> </a:t>
            </a:r>
            <a:r>
              <a:rPr lang="es-419" dirty="0">
                <a:solidFill>
                  <a:srgbClr val="2A2E3A"/>
                </a:solidFill>
                <a:latin typeface="Montserrat"/>
              </a:rPr>
              <a:t>(r = 0.91): Existe una correlación positiva muy fuerte, lo que indica que la duración de las sesiones influye significativamente en la cantidad de calorías quemadas.</a:t>
            </a:r>
          </a:p>
          <a:p>
            <a:pPr marL="342900" indent="-342900" algn="just">
              <a:lnSpc>
                <a:spcPct val="139960"/>
              </a:lnSpc>
              <a:buFont typeface="+mj-lt"/>
              <a:buAutoNum type="arabicPeriod"/>
            </a:pPr>
            <a:r>
              <a:rPr lang="es-419" b="1" dirty="0" err="1">
                <a:solidFill>
                  <a:srgbClr val="2A2E3A"/>
                </a:solidFill>
                <a:latin typeface="Montserrat"/>
              </a:rPr>
              <a:t>Weight</a:t>
            </a:r>
            <a:r>
              <a:rPr lang="es-419" b="1" dirty="0">
                <a:solidFill>
                  <a:srgbClr val="2A2E3A"/>
                </a:solidFill>
                <a:latin typeface="Montserrat"/>
              </a:rPr>
              <a:t> y BMI </a:t>
            </a:r>
            <a:r>
              <a:rPr lang="es-419" dirty="0">
                <a:solidFill>
                  <a:srgbClr val="2A2E3A"/>
                </a:solidFill>
                <a:latin typeface="Montserrat"/>
              </a:rPr>
              <a:t>(r = 0.85): Se confirma una relación directa significativa entre el peso corporal y el índice de masa corporal, coherente con su fórmula.</a:t>
            </a:r>
          </a:p>
          <a:p>
            <a:pPr marL="342900" indent="-342900" algn="just">
              <a:lnSpc>
                <a:spcPct val="139960"/>
              </a:lnSpc>
              <a:buFont typeface="+mj-lt"/>
              <a:buAutoNum type="arabicPeriod"/>
            </a:pPr>
            <a:r>
              <a:rPr lang="es-419" b="1" dirty="0" err="1">
                <a:solidFill>
                  <a:srgbClr val="2A2E3A"/>
                </a:solidFill>
                <a:latin typeface="Montserrat"/>
              </a:rPr>
              <a:t>Calories_Burned</a:t>
            </a:r>
            <a:r>
              <a:rPr lang="es-419" b="1" dirty="0">
                <a:solidFill>
                  <a:srgbClr val="2A2E3A"/>
                </a:solidFill>
                <a:latin typeface="Montserrat"/>
              </a:rPr>
              <a:t> y </a:t>
            </a:r>
            <a:r>
              <a:rPr lang="es-419" b="1" dirty="0" err="1">
                <a:solidFill>
                  <a:srgbClr val="2A2E3A"/>
                </a:solidFill>
                <a:latin typeface="Montserrat"/>
              </a:rPr>
              <a:t>Workout_Frequency</a:t>
            </a:r>
            <a:r>
              <a:rPr lang="es-419" b="1" dirty="0">
                <a:solidFill>
                  <a:srgbClr val="2A2E3A"/>
                </a:solidFill>
                <a:latin typeface="Montserrat"/>
              </a:rPr>
              <a:t> </a:t>
            </a:r>
            <a:r>
              <a:rPr lang="es-419" dirty="0">
                <a:solidFill>
                  <a:srgbClr val="2A2E3A"/>
                </a:solidFill>
                <a:latin typeface="Montserrat"/>
              </a:rPr>
              <a:t>(r = 0.58): Refleja que un mayor número de sesiones semanales contribuye al gasto calórico.</a:t>
            </a:r>
          </a:p>
          <a:p>
            <a:pPr marL="342900" indent="-342900" algn="just">
              <a:lnSpc>
                <a:spcPct val="139960"/>
              </a:lnSpc>
              <a:buFont typeface="+mj-lt"/>
              <a:buAutoNum type="arabicPeriod"/>
            </a:pPr>
            <a:r>
              <a:rPr lang="es-419" b="1" dirty="0" err="1">
                <a:solidFill>
                  <a:srgbClr val="2A2E3A"/>
                </a:solidFill>
                <a:latin typeface="Montserrat"/>
              </a:rPr>
              <a:t>Experience_Level</a:t>
            </a:r>
            <a:r>
              <a:rPr lang="es-419" b="1" dirty="0">
                <a:solidFill>
                  <a:srgbClr val="2A2E3A"/>
                </a:solidFill>
                <a:latin typeface="Montserrat"/>
              </a:rPr>
              <a:t> y </a:t>
            </a:r>
            <a:r>
              <a:rPr lang="es-419" b="1" dirty="0" err="1">
                <a:solidFill>
                  <a:srgbClr val="2A2E3A"/>
                </a:solidFill>
                <a:latin typeface="Montserrat"/>
              </a:rPr>
              <a:t>Workout_Frequency</a:t>
            </a:r>
            <a:r>
              <a:rPr lang="es-419" b="1" dirty="0">
                <a:solidFill>
                  <a:srgbClr val="2A2E3A"/>
                </a:solidFill>
                <a:latin typeface="Montserrat"/>
              </a:rPr>
              <a:t> </a:t>
            </a:r>
            <a:r>
              <a:rPr lang="es-419" dirty="0">
                <a:solidFill>
                  <a:srgbClr val="2A2E3A"/>
                </a:solidFill>
                <a:latin typeface="Montserrat"/>
              </a:rPr>
              <a:t>(r = 0.74): Sugiere que los usuarios más experimentados tienden a entrenar con mayor frecuencia.</a:t>
            </a:r>
          </a:p>
          <a:p>
            <a:pPr algn="just">
              <a:lnSpc>
                <a:spcPct val="139960"/>
              </a:lnSpc>
            </a:pPr>
            <a:endParaRPr lang="es-419" dirty="0">
              <a:solidFill>
                <a:srgbClr val="2A2E3A"/>
              </a:solidFill>
              <a:latin typeface="Montserrat"/>
            </a:endParaRPr>
          </a:p>
          <a:p>
            <a:pPr algn="just">
              <a:lnSpc>
                <a:spcPct val="139960"/>
              </a:lnSpc>
            </a:pPr>
            <a:r>
              <a:rPr lang="es-419" dirty="0">
                <a:solidFill>
                  <a:srgbClr val="2A2E3A"/>
                </a:solidFill>
                <a:latin typeface="Montserrat"/>
              </a:rPr>
              <a:t>Por lo tanto las variables que  no aporten al modelo serán eliminadas para optimizar el coste computacional</a:t>
            </a:r>
          </a:p>
          <a:p>
            <a:pPr marL="0" marR="0" lvl="0" indent="0" algn="just" rtl="0">
              <a:lnSpc>
                <a:spcPct val="13996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419" dirty="0">
              <a:solidFill>
                <a:srgbClr val="2A2E3A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02565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AEB7ABFB-5136-0E51-7F19-113E88445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4">
            <a:extLst>
              <a:ext uri="{FF2B5EF4-FFF2-40B4-BE49-F238E27FC236}">
                <a16:creationId xmlns:a16="http://schemas.microsoft.com/office/drawing/2014/main" id="{AA7DC7C5-FCFD-83A9-FE5E-6DD3D9DA371E}"/>
              </a:ext>
            </a:extLst>
          </p:cNvPr>
          <p:cNvGrpSpPr/>
          <p:nvPr/>
        </p:nvGrpSpPr>
        <p:grpSpPr>
          <a:xfrm>
            <a:off x="-190500" y="-171651"/>
            <a:ext cx="18669114" cy="3130468"/>
            <a:chOff x="0" y="-47625"/>
            <a:chExt cx="4816593" cy="1115276"/>
          </a:xfrm>
        </p:grpSpPr>
        <p:sp>
          <p:nvSpPr>
            <p:cNvPr id="160" name="Google Shape;160;p4">
              <a:extLst>
                <a:ext uri="{FF2B5EF4-FFF2-40B4-BE49-F238E27FC236}">
                  <a16:creationId xmlns:a16="http://schemas.microsoft.com/office/drawing/2014/main" id="{DD078A14-0717-B013-9FAE-7640DCC89255}"/>
                </a:ext>
              </a:extLst>
            </p:cNvPr>
            <p:cNvSpPr/>
            <p:nvPr/>
          </p:nvSpPr>
          <p:spPr>
            <a:xfrm>
              <a:off x="0" y="0"/>
              <a:ext cx="4816592" cy="1067651"/>
            </a:xfrm>
            <a:custGeom>
              <a:avLst/>
              <a:gdLst/>
              <a:ahLst/>
              <a:cxnLst/>
              <a:rect l="l" t="t" r="r" b="b"/>
              <a:pathLst>
                <a:path w="4816592" h="106765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67651"/>
                  </a:lnTo>
                  <a:lnTo>
                    <a:pt x="0" y="1067651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</p:sp>
        <p:sp>
          <p:nvSpPr>
            <p:cNvPr id="161" name="Google Shape;161;p4">
              <a:extLst>
                <a:ext uri="{FF2B5EF4-FFF2-40B4-BE49-F238E27FC236}">
                  <a16:creationId xmlns:a16="http://schemas.microsoft.com/office/drawing/2014/main" id="{6E08416C-D22C-D5F6-6C6E-8CF7FE5DA3AE}"/>
                </a:ext>
              </a:extLst>
            </p:cNvPr>
            <p:cNvSpPr txBox="1"/>
            <p:nvPr/>
          </p:nvSpPr>
          <p:spPr>
            <a:xfrm>
              <a:off x="0" y="-47625"/>
              <a:ext cx="4816593" cy="1115276"/>
            </a:xfrm>
            <a:prstGeom prst="rect">
              <a:avLst/>
            </a:prstGeom>
            <a:solidFill>
              <a:srgbClr val="79163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2591FB4D-71E8-E563-E178-4C43C7AECD7B}"/>
              </a:ext>
            </a:extLst>
          </p:cNvPr>
          <p:cNvSpPr txBox="1"/>
          <p:nvPr/>
        </p:nvSpPr>
        <p:spPr>
          <a:xfrm>
            <a:off x="1756085" y="1277707"/>
            <a:ext cx="11782933" cy="1232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675" b="1" noProof="0" dirty="0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Tema 3: Estadísticas  </a:t>
            </a:r>
            <a:endParaRPr lang="es-419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E6E162B-F382-3439-1BD8-B53CDAE06CAD}"/>
              </a:ext>
            </a:extLst>
          </p:cNvPr>
          <p:cNvSpPr txBox="1"/>
          <p:nvPr/>
        </p:nvSpPr>
        <p:spPr>
          <a:xfrm>
            <a:off x="929148" y="4889932"/>
            <a:ext cx="7271623" cy="3077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9960"/>
              </a:lnSpc>
            </a:pPr>
            <a:r>
              <a:rPr lang="es-419" dirty="0">
                <a:solidFill>
                  <a:srgbClr val="2A2E3A"/>
                </a:solidFill>
                <a:latin typeface="Montserrat"/>
              </a:rPr>
              <a:t>El análisis visual de la matriz de dispersión muestra una fuerte relación positiva entre </a:t>
            </a:r>
            <a:r>
              <a:rPr lang="es-419" dirty="0" err="1">
                <a:solidFill>
                  <a:srgbClr val="2A2E3A"/>
                </a:solidFill>
                <a:latin typeface="Montserrat"/>
              </a:rPr>
              <a:t>Session_Duration</a:t>
            </a:r>
            <a:r>
              <a:rPr lang="es-419" dirty="0">
                <a:solidFill>
                  <a:srgbClr val="2A2E3A"/>
                </a:solidFill>
                <a:latin typeface="Montserrat"/>
              </a:rPr>
              <a:t> y </a:t>
            </a:r>
            <a:r>
              <a:rPr lang="es-419" dirty="0" err="1">
                <a:solidFill>
                  <a:srgbClr val="2A2E3A"/>
                </a:solidFill>
                <a:latin typeface="Montserrat"/>
              </a:rPr>
              <a:t>Calories_Burned</a:t>
            </a:r>
            <a:r>
              <a:rPr lang="es-419" dirty="0">
                <a:solidFill>
                  <a:srgbClr val="2A2E3A"/>
                </a:solidFill>
                <a:latin typeface="Montserrat"/>
              </a:rPr>
              <a:t>, evidenciando que una mayor duración del entrenamiento incrementa el gasto calórico. Las distribuciones por </a:t>
            </a:r>
            <a:r>
              <a:rPr lang="es-419" dirty="0" err="1">
                <a:solidFill>
                  <a:srgbClr val="2A2E3A"/>
                </a:solidFill>
                <a:latin typeface="Montserrat"/>
              </a:rPr>
              <a:t>Experience_Level</a:t>
            </a:r>
            <a:r>
              <a:rPr lang="es-419" dirty="0">
                <a:solidFill>
                  <a:srgbClr val="2A2E3A"/>
                </a:solidFill>
                <a:latin typeface="Montserrat"/>
              </a:rPr>
              <a:t> indican que los usuarios más experimentados (nivel 2) tienden a realizar sesiones más largas, con mayor frecuencia semanal y mayor quema calórica. </a:t>
            </a:r>
            <a:r>
              <a:rPr lang="es-419" dirty="0" err="1">
                <a:solidFill>
                  <a:srgbClr val="2A2E3A"/>
                </a:solidFill>
                <a:latin typeface="Montserrat"/>
              </a:rPr>
              <a:t>Workout_Frequency</a:t>
            </a:r>
            <a:r>
              <a:rPr lang="es-419" dirty="0">
                <a:solidFill>
                  <a:srgbClr val="2A2E3A"/>
                </a:solidFill>
                <a:latin typeface="Montserrat"/>
              </a:rPr>
              <a:t> presenta patrones discretos concentrados entre 3 y 5 días por semana. No se observan correlaciones relevantes con </a:t>
            </a:r>
            <a:r>
              <a:rPr lang="es-419" dirty="0" err="1">
                <a:solidFill>
                  <a:srgbClr val="2A2E3A"/>
                </a:solidFill>
                <a:latin typeface="Montserrat"/>
              </a:rPr>
              <a:t>Gender</a:t>
            </a:r>
            <a:r>
              <a:rPr lang="es-419" dirty="0">
                <a:solidFill>
                  <a:srgbClr val="2A2E3A"/>
                </a:solidFill>
                <a:latin typeface="Montserrat"/>
              </a:rPr>
              <a:t>, lo que sugiere una distribución homogénea respecto al rendimiento físico evaluado.</a:t>
            </a:r>
          </a:p>
          <a:p>
            <a:pPr marL="0" marR="0" lvl="0" indent="0" algn="just" rtl="0">
              <a:lnSpc>
                <a:spcPct val="13996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419" dirty="0">
              <a:solidFill>
                <a:srgbClr val="2A2E3A"/>
              </a:solidFill>
              <a:latin typeface="Montserrat"/>
            </a:endParaRPr>
          </a:p>
        </p:txBody>
      </p:sp>
      <p:pic>
        <p:nvPicPr>
          <p:cNvPr id="2050" name="Picture 2" descr="Uploaded image">
            <a:extLst>
              <a:ext uri="{FF2B5EF4-FFF2-40B4-BE49-F238E27FC236}">
                <a16:creationId xmlns:a16="http://schemas.microsoft.com/office/drawing/2014/main" id="{74AE83E7-D517-3FA4-6287-651D447CF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283" y="3204827"/>
            <a:ext cx="7870569" cy="684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87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81DC9EDF-0EF6-E6FE-9C00-A08F566B3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4">
            <a:extLst>
              <a:ext uri="{FF2B5EF4-FFF2-40B4-BE49-F238E27FC236}">
                <a16:creationId xmlns:a16="http://schemas.microsoft.com/office/drawing/2014/main" id="{20B04B05-DF21-322F-6C5D-57043780966D}"/>
              </a:ext>
            </a:extLst>
          </p:cNvPr>
          <p:cNvGrpSpPr/>
          <p:nvPr/>
        </p:nvGrpSpPr>
        <p:grpSpPr>
          <a:xfrm>
            <a:off x="-190500" y="-171651"/>
            <a:ext cx="18669114" cy="3130468"/>
            <a:chOff x="0" y="-47625"/>
            <a:chExt cx="4816593" cy="1115276"/>
          </a:xfrm>
        </p:grpSpPr>
        <p:sp>
          <p:nvSpPr>
            <p:cNvPr id="160" name="Google Shape;160;p4">
              <a:extLst>
                <a:ext uri="{FF2B5EF4-FFF2-40B4-BE49-F238E27FC236}">
                  <a16:creationId xmlns:a16="http://schemas.microsoft.com/office/drawing/2014/main" id="{10A6731E-0E41-F3BB-3821-CEDCA9691770}"/>
                </a:ext>
              </a:extLst>
            </p:cNvPr>
            <p:cNvSpPr/>
            <p:nvPr/>
          </p:nvSpPr>
          <p:spPr>
            <a:xfrm>
              <a:off x="0" y="0"/>
              <a:ext cx="4816592" cy="1067651"/>
            </a:xfrm>
            <a:custGeom>
              <a:avLst/>
              <a:gdLst/>
              <a:ahLst/>
              <a:cxnLst/>
              <a:rect l="l" t="t" r="r" b="b"/>
              <a:pathLst>
                <a:path w="4816592" h="106765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67651"/>
                  </a:lnTo>
                  <a:lnTo>
                    <a:pt x="0" y="1067651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</p:sp>
        <p:sp>
          <p:nvSpPr>
            <p:cNvPr id="161" name="Google Shape;161;p4">
              <a:extLst>
                <a:ext uri="{FF2B5EF4-FFF2-40B4-BE49-F238E27FC236}">
                  <a16:creationId xmlns:a16="http://schemas.microsoft.com/office/drawing/2014/main" id="{09FB4671-5FC6-9243-DFC6-29CED198951D}"/>
                </a:ext>
              </a:extLst>
            </p:cNvPr>
            <p:cNvSpPr txBox="1"/>
            <p:nvPr/>
          </p:nvSpPr>
          <p:spPr>
            <a:xfrm>
              <a:off x="0" y="-47625"/>
              <a:ext cx="4816593" cy="1115276"/>
            </a:xfrm>
            <a:prstGeom prst="rect">
              <a:avLst/>
            </a:prstGeom>
            <a:solidFill>
              <a:srgbClr val="79163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9B61C378-BD66-F326-9BDE-197A6864A3D0}"/>
              </a:ext>
            </a:extLst>
          </p:cNvPr>
          <p:cNvSpPr txBox="1"/>
          <p:nvPr/>
        </p:nvSpPr>
        <p:spPr>
          <a:xfrm>
            <a:off x="1756085" y="1277707"/>
            <a:ext cx="11782933" cy="1232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675" b="1" noProof="0" dirty="0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Tema 3: Clases  </a:t>
            </a:r>
            <a:endParaRPr lang="es-419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73366EC-A8E2-DAA8-065F-B64E88750E33}"/>
              </a:ext>
            </a:extLst>
          </p:cNvPr>
          <p:cNvSpPr txBox="1"/>
          <p:nvPr/>
        </p:nvSpPr>
        <p:spPr>
          <a:xfrm>
            <a:off x="530942" y="3826031"/>
            <a:ext cx="7271623" cy="4972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9960"/>
              </a:lnSpc>
            </a:pPr>
            <a:r>
              <a:rPr lang="es-419" sz="2000" b="1" dirty="0">
                <a:solidFill>
                  <a:srgbClr val="2A2E3A"/>
                </a:solidFill>
                <a:latin typeface="Montserrat"/>
              </a:rPr>
              <a:t>Target </a:t>
            </a:r>
            <a:endParaRPr lang="es-419" b="1" dirty="0">
              <a:solidFill>
                <a:srgbClr val="2A2E3A"/>
              </a:solidFill>
              <a:latin typeface="Montserrat"/>
            </a:endParaRPr>
          </a:p>
          <a:p>
            <a:pPr algn="just">
              <a:lnSpc>
                <a:spcPct val="139960"/>
              </a:lnSpc>
            </a:pPr>
            <a:r>
              <a:rPr lang="es-419" dirty="0">
                <a:solidFill>
                  <a:srgbClr val="2A2E3A"/>
                </a:solidFill>
                <a:latin typeface="Montserrat"/>
              </a:rPr>
              <a:t>Nuestro modelo será creado y entrenado para definir si tu nivel de experiencia es 1 – nivel básico en ejercicios o 2 – nivel experto en ejercicio. </a:t>
            </a:r>
          </a:p>
          <a:p>
            <a:pPr algn="just">
              <a:lnSpc>
                <a:spcPct val="139960"/>
              </a:lnSpc>
            </a:pPr>
            <a:endParaRPr lang="es-419" dirty="0">
              <a:solidFill>
                <a:srgbClr val="2A2E3A"/>
              </a:solidFill>
              <a:latin typeface="Montserrat"/>
            </a:endParaRPr>
          </a:p>
          <a:p>
            <a:pPr algn="just">
              <a:lnSpc>
                <a:spcPct val="139960"/>
              </a:lnSpc>
            </a:pPr>
            <a:r>
              <a:rPr lang="es-419" sz="2000" b="1" dirty="0" err="1">
                <a:solidFill>
                  <a:srgbClr val="2A2E3A"/>
                </a:solidFill>
                <a:latin typeface="Montserrat"/>
              </a:rPr>
              <a:t>Insight</a:t>
            </a:r>
            <a:r>
              <a:rPr lang="es-419" sz="2000" b="1" dirty="0">
                <a:solidFill>
                  <a:srgbClr val="2A2E3A"/>
                </a:solidFill>
                <a:latin typeface="Montserrat"/>
              </a:rPr>
              <a:t> </a:t>
            </a:r>
            <a:endParaRPr lang="es-419" b="1" dirty="0">
              <a:solidFill>
                <a:srgbClr val="2A2E3A"/>
              </a:solidFill>
              <a:latin typeface="Montserrat"/>
            </a:endParaRPr>
          </a:p>
          <a:p>
            <a:pPr algn="just">
              <a:lnSpc>
                <a:spcPct val="139960"/>
              </a:lnSpc>
            </a:pPr>
            <a:r>
              <a:rPr lang="es-419" dirty="0">
                <a:solidFill>
                  <a:srgbClr val="2A2E3A"/>
                </a:solidFill>
                <a:latin typeface="Montserrat"/>
              </a:rPr>
              <a:t>Aprendemos que cuando tienen un nivel 2, tu ejercicio es mas efectivo, es decir, quemas mas calorías, mejoras tu IMP, mejoras tu zona cardiaca, controlas tu peso y tu recuperación es mas rápida. </a:t>
            </a:r>
          </a:p>
          <a:p>
            <a:pPr algn="just">
              <a:lnSpc>
                <a:spcPct val="139960"/>
              </a:lnSpc>
            </a:pPr>
            <a:endParaRPr lang="es-419" dirty="0">
              <a:solidFill>
                <a:srgbClr val="2A2E3A"/>
              </a:solidFill>
              <a:latin typeface="Montserrat"/>
            </a:endParaRPr>
          </a:p>
          <a:p>
            <a:pPr algn="just">
              <a:lnSpc>
                <a:spcPct val="139960"/>
              </a:lnSpc>
            </a:pPr>
            <a:r>
              <a:rPr lang="es-419" sz="2000" b="1" dirty="0">
                <a:solidFill>
                  <a:srgbClr val="2A2E3A"/>
                </a:solidFill>
                <a:latin typeface="Montserrat"/>
              </a:rPr>
              <a:t>Modelos ML</a:t>
            </a:r>
            <a:r>
              <a:rPr lang="es-419" dirty="0">
                <a:solidFill>
                  <a:srgbClr val="2A2E3A"/>
                </a:solidFill>
                <a:latin typeface="Montserrat"/>
              </a:rPr>
              <a:t> </a:t>
            </a:r>
          </a:p>
          <a:p>
            <a:pPr algn="just">
              <a:lnSpc>
                <a:spcPct val="139960"/>
              </a:lnSpc>
            </a:pPr>
            <a:r>
              <a:rPr lang="es-419" dirty="0">
                <a:solidFill>
                  <a:srgbClr val="2A2E3A"/>
                </a:solidFill>
                <a:latin typeface="Montserrat"/>
              </a:rPr>
              <a:t>Se utilizarán los algoritmos Regresión Logística, Máquinas de Vectores de Soporte (SVM), K-Vecinos más Cercanos (K-NN) y Árboles de Decisión, los cuales serán evaluados mediante métricas de desempeño como la matriz de confusión, </a:t>
            </a:r>
            <a:r>
              <a:rPr lang="es-419" dirty="0" err="1">
                <a:solidFill>
                  <a:srgbClr val="2A2E3A"/>
                </a:solidFill>
                <a:latin typeface="Montserrat"/>
              </a:rPr>
              <a:t>recall</a:t>
            </a:r>
            <a:r>
              <a:rPr lang="es-419" dirty="0">
                <a:solidFill>
                  <a:srgbClr val="2A2E3A"/>
                </a:solidFill>
                <a:latin typeface="Montserrat"/>
              </a:rPr>
              <a:t> (sensibilidad), precisión y puntaje F1, con el fin de determinar la eficacia predictiva de cada modelo en la clasificación del conjunto de datos.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8280A3-8316-CA58-272F-29FD0FDD5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3747" y="3765273"/>
            <a:ext cx="9616248" cy="566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208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ED41F0DD-BFB4-F3E7-D80C-056E8508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4">
            <a:extLst>
              <a:ext uri="{FF2B5EF4-FFF2-40B4-BE49-F238E27FC236}">
                <a16:creationId xmlns:a16="http://schemas.microsoft.com/office/drawing/2014/main" id="{275849A6-F7B3-968E-7898-00C96591D783}"/>
              </a:ext>
            </a:extLst>
          </p:cNvPr>
          <p:cNvGrpSpPr/>
          <p:nvPr/>
        </p:nvGrpSpPr>
        <p:grpSpPr>
          <a:xfrm>
            <a:off x="-190500" y="-171651"/>
            <a:ext cx="18669114" cy="3130468"/>
            <a:chOff x="0" y="-47625"/>
            <a:chExt cx="4816593" cy="1115276"/>
          </a:xfrm>
        </p:grpSpPr>
        <p:sp>
          <p:nvSpPr>
            <p:cNvPr id="160" name="Google Shape;160;p4">
              <a:extLst>
                <a:ext uri="{FF2B5EF4-FFF2-40B4-BE49-F238E27FC236}">
                  <a16:creationId xmlns:a16="http://schemas.microsoft.com/office/drawing/2014/main" id="{CD5455D8-5DC3-7444-E9C8-5723910A825A}"/>
                </a:ext>
              </a:extLst>
            </p:cNvPr>
            <p:cNvSpPr/>
            <p:nvPr/>
          </p:nvSpPr>
          <p:spPr>
            <a:xfrm>
              <a:off x="0" y="0"/>
              <a:ext cx="4816592" cy="1067651"/>
            </a:xfrm>
            <a:custGeom>
              <a:avLst/>
              <a:gdLst/>
              <a:ahLst/>
              <a:cxnLst/>
              <a:rect l="l" t="t" r="r" b="b"/>
              <a:pathLst>
                <a:path w="4816592" h="106765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67651"/>
                  </a:lnTo>
                  <a:lnTo>
                    <a:pt x="0" y="1067651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</p:sp>
        <p:sp>
          <p:nvSpPr>
            <p:cNvPr id="161" name="Google Shape;161;p4">
              <a:extLst>
                <a:ext uri="{FF2B5EF4-FFF2-40B4-BE49-F238E27FC236}">
                  <a16:creationId xmlns:a16="http://schemas.microsoft.com/office/drawing/2014/main" id="{9E067C68-812D-0572-994F-0003524D93B7}"/>
                </a:ext>
              </a:extLst>
            </p:cNvPr>
            <p:cNvSpPr txBox="1"/>
            <p:nvPr/>
          </p:nvSpPr>
          <p:spPr>
            <a:xfrm>
              <a:off x="0" y="-47625"/>
              <a:ext cx="4816593" cy="1115276"/>
            </a:xfrm>
            <a:prstGeom prst="rect">
              <a:avLst/>
            </a:prstGeom>
            <a:solidFill>
              <a:srgbClr val="79163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C334B5FD-B318-F6AB-44A4-1975C7DB1C7B}"/>
              </a:ext>
            </a:extLst>
          </p:cNvPr>
          <p:cNvSpPr txBox="1"/>
          <p:nvPr/>
        </p:nvSpPr>
        <p:spPr>
          <a:xfrm>
            <a:off x="1756085" y="1277707"/>
            <a:ext cx="11782933" cy="1232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675" b="1" noProof="0" dirty="0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Tema 4: </a:t>
            </a:r>
            <a:r>
              <a:rPr lang="es-419" sz="6675" b="1" dirty="0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Resultados</a:t>
            </a:r>
            <a:r>
              <a:rPr lang="es-419" sz="6675" b="1" noProof="0" dirty="0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lang="es-419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F40640-44AC-0B6F-1839-BBB6E7884177}"/>
              </a:ext>
            </a:extLst>
          </p:cNvPr>
          <p:cNvSpPr txBox="1"/>
          <p:nvPr/>
        </p:nvSpPr>
        <p:spPr>
          <a:xfrm>
            <a:off x="678427" y="3446570"/>
            <a:ext cx="7271623" cy="561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9960"/>
              </a:lnSpc>
            </a:pPr>
            <a:endParaRPr lang="es-419" dirty="0">
              <a:solidFill>
                <a:srgbClr val="2A2E3A"/>
              </a:solidFill>
              <a:latin typeface="Montserrat"/>
            </a:endParaRPr>
          </a:p>
          <a:p>
            <a:pPr algn="just">
              <a:lnSpc>
                <a:spcPct val="139960"/>
              </a:lnSpc>
            </a:pPr>
            <a:r>
              <a:rPr lang="es-419" sz="2000" b="1" dirty="0" err="1">
                <a:solidFill>
                  <a:srgbClr val="2A2E3A"/>
                </a:solidFill>
                <a:latin typeface="Montserrat"/>
              </a:rPr>
              <a:t>Insight</a:t>
            </a:r>
            <a:r>
              <a:rPr lang="es-419" sz="2000" b="1" dirty="0">
                <a:solidFill>
                  <a:srgbClr val="2A2E3A"/>
                </a:solidFill>
                <a:latin typeface="Montserrat"/>
              </a:rPr>
              <a:t> </a:t>
            </a:r>
            <a:endParaRPr lang="es-419" b="1" dirty="0">
              <a:solidFill>
                <a:srgbClr val="2A2E3A"/>
              </a:solidFill>
              <a:latin typeface="Montserrat"/>
            </a:endParaRPr>
          </a:p>
          <a:p>
            <a:pPr algn="just">
              <a:lnSpc>
                <a:spcPct val="139960"/>
              </a:lnSpc>
            </a:pPr>
            <a:r>
              <a:rPr lang="es-419" dirty="0">
                <a:solidFill>
                  <a:srgbClr val="2A2E3A"/>
                </a:solidFill>
                <a:latin typeface="Montserrat"/>
              </a:rPr>
              <a:t>Con base en el gráfico de comparación de modelos mediante validación cruzada (5-fold), se observa lo siguiente respecto al </a:t>
            </a:r>
            <a:r>
              <a:rPr lang="es-419" dirty="0" err="1">
                <a:solidFill>
                  <a:srgbClr val="2A2E3A"/>
                </a:solidFill>
                <a:latin typeface="Montserrat"/>
              </a:rPr>
              <a:t>accuracy</a:t>
            </a:r>
            <a:r>
              <a:rPr lang="es-419" dirty="0">
                <a:solidFill>
                  <a:srgbClr val="2A2E3A"/>
                </a:solidFill>
                <a:latin typeface="Montserrat"/>
              </a:rPr>
              <a:t> promedio:</a:t>
            </a:r>
          </a:p>
          <a:p>
            <a:pPr algn="just">
              <a:lnSpc>
                <a:spcPct val="139960"/>
              </a:lnSpc>
            </a:pPr>
            <a:endParaRPr lang="es-419" dirty="0">
              <a:solidFill>
                <a:srgbClr val="2A2E3A"/>
              </a:solidFill>
              <a:latin typeface="Montserrat"/>
            </a:endParaRPr>
          </a:p>
          <a:p>
            <a:pPr marL="285750" indent="-285750" algn="just">
              <a:lnSpc>
                <a:spcPct val="139960"/>
              </a:lnSpc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2A2E3A"/>
                </a:solidFill>
                <a:latin typeface="Montserrat"/>
              </a:rPr>
              <a:t>El modelo de Máquinas de Vectores de Soporte (SVM) presenta el mayor rendimiento promedio, con una precisión cercana al 90%, lo que lo posiciona como el modelo más consistente en este conjunto de datos.</a:t>
            </a:r>
          </a:p>
          <a:p>
            <a:pPr marL="285750" indent="-285750" algn="just">
              <a:lnSpc>
                <a:spcPct val="139960"/>
              </a:lnSpc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2A2E3A"/>
                </a:solidFill>
                <a:latin typeface="Montserrat"/>
              </a:rPr>
              <a:t>Regresión Logística, Árbol de Decisión y K-Vecinos más Cercanos (K-NN) tienen precisiones similares, ligeramente por debajo del SVM (~87%-88%).</a:t>
            </a:r>
          </a:p>
          <a:p>
            <a:pPr marL="285750" indent="-285750" algn="just">
              <a:lnSpc>
                <a:spcPct val="139960"/>
              </a:lnSpc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2A2E3A"/>
                </a:solidFill>
                <a:latin typeface="Montserrat"/>
              </a:rPr>
              <a:t>Todos los modelos muestran rangos de variabilidad (barras de error) considerables, lo que indica cierta inestabilidad entre las particiones de validación.</a:t>
            </a:r>
          </a:p>
          <a:p>
            <a:pPr marL="285750" indent="-285750" algn="just">
              <a:lnSpc>
                <a:spcPct val="139960"/>
              </a:lnSpc>
              <a:buFont typeface="Arial" panose="020B0604020202020204" pitchFamily="34" charset="0"/>
              <a:buChar char="•"/>
            </a:pPr>
            <a:endParaRPr lang="es-419" dirty="0">
              <a:solidFill>
                <a:srgbClr val="2A2E3A"/>
              </a:solidFill>
              <a:latin typeface="Montserrat"/>
            </a:endParaRPr>
          </a:p>
          <a:p>
            <a:pPr algn="just">
              <a:lnSpc>
                <a:spcPct val="139960"/>
              </a:lnSpc>
            </a:pPr>
            <a:r>
              <a:rPr lang="es-419" dirty="0">
                <a:solidFill>
                  <a:srgbClr val="2A2E3A"/>
                </a:solidFill>
                <a:latin typeface="Montserrat"/>
              </a:rPr>
              <a:t>En conclusión, aunque SVM destaca por su mayor precisión, es importante considerar también métricas adicionales (</a:t>
            </a:r>
            <a:r>
              <a:rPr lang="es-419" dirty="0" err="1">
                <a:solidFill>
                  <a:srgbClr val="2A2E3A"/>
                </a:solidFill>
                <a:latin typeface="Montserrat"/>
              </a:rPr>
              <a:t>recall</a:t>
            </a:r>
            <a:r>
              <a:rPr lang="es-419" dirty="0">
                <a:solidFill>
                  <a:srgbClr val="2A2E3A"/>
                </a:solidFill>
                <a:latin typeface="Montserrat"/>
              </a:rPr>
              <a:t>, F1-score) para confirmar su superioridad según los objetivos del problema.</a:t>
            </a:r>
          </a:p>
          <a:p>
            <a:pPr algn="just">
              <a:lnSpc>
                <a:spcPct val="139960"/>
              </a:lnSpc>
            </a:pPr>
            <a:endParaRPr lang="es-419" dirty="0">
              <a:solidFill>
                <a:srgbClr val="2A2E3A"/>
              </a:solidFill>
              <a:latin typeface="Montserra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D2B791-F595-6371-44F9-EDA2208D5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1" y="3215398"/>
            <a:ext cx="8174160" cy="510885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1273AF8-D0BB-A2FF-0830-49AAC7BDD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7952" y="8343136"/>
            <a:ext cx="6551139" cy="144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17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/>
          <p:nvPr/>
        </p:nvSpPr>
        <p:spPr>
          <a:xfrm>
            <a:off x="2327223" y="3644667"/>
            <a:ext cx="876828" cy="718999"/>
          </a:xfrm>
          <a:custGeom>
            <a:avLst/>
            <a:gdLst/>
            <a:ahLst/>
            <a:cxnLst/>
            <a:rect l="l" t="t" r="r" b="b"/>
            <a:pathLst>
              <a:path w="876828" h="718999" extrusionOk="0">
                <a:moveTo>
                  <a:pt x="0" y="0"/>
                </a:moveTo>
                <a:lnTo>
                  <a:pt x="876828" y="0"/>
                </a:lnTo>
                <a:lnTo>
                  <a:pt x="876828" y="718998"/>
                </a:lnTo>
                <a:lnTo>
                  <a:pt x="0" y="718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85" name="Google Shape;185;p6"/>
          <p:cNvGrpSpPr/>
          <p:nvPr/>
        </p:nvGrpSpPr>
        <p:grpSpPr>
          <a:xfrm>
            <a:off x="-522109" y="-2588027"/>
            <a:ext cx="19917789" cy="3266948"/>
            <a:chOff x="0" y="-47625"/>
            <a:chExt cx="5245803" cy="860425"/>
          </a:xfrm>
        </p:grpSpPr>
        <p:sp>
          <p:nvSpPr>
            <p:cNvPr id="186" name="Google Shape;186;p6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 extrusionOk="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</p:sp>
        <p:sp>
          <p:nvSpPr>
            <p:cNvPr id="187" name="Google Shape;187;p6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  <a:solidFill>
              <a:srgbClr val="79163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6"/>
          <p:cNvGrpSpPr/>
          <p:nvPr/>
        </p:nvGrpSpPr>
        <p:grpSpPr>
          <a:xfrm>
            <a:off x="-378128" y="9530823"/>
            <a:ext cx="19917789" cy="3266948"/>
            <a:chOff x="0" y="-47625"/>
            <a:chExt cx="5245803" cy="860425"/>
          </a:xfrm>
        </p:grpSpPr>
        <p:sp>
          <p:nvSpPr>
            <p:cNvPr id="189" name="Google Shape;189;p6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 extrusionOk="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</p:sp>
        <p:sp>
          <p:nvSpPr>
            <p:cNvPr id="190" name="Google Shape;190;p6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  <a:solidFill>
              <a:srgbClr val="79163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93A4FD1-7D28-BC05-10DE-855E1B13F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8734" y="1266632"/>
            <a:ext cx="8677041" cy="754350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23649EA-B1C1-0C35-7780-2F72DA851357}"/>
              </a:ext>
            </a:extLst>
          </p:cNvPr>
          <p:cNvSpPr txBox="1"/>
          <p:nvPr/>
        </p:nvSpPr>
        <p:spPr>
          <a:xfrm>
            <a:off x="492226" y="1776084"/>
            <a:ext cx="7678381" cy="169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9960"/>
              </a:lnSpc>
            </a:pPr>
            <a:r>
              <a:rPr lang="es-419" sz="2000" b="1" dirty="0">
                <a:solidFill>
                  <a:srgbClr val="2A2E3A"/>
                </a:solidFill>
                <a:latin typeface="Montserrat"/>
              </a:rPr>
              <a:t>Probando el ML</a:t>
            </a:r>
          </a:p>
          <a:p>
            <a:pPr algn="just">
              <a:lnSpc>
                <a:spcPct val="139960"/>
              </a:lnSpc>
            </a:pPr>
            <a:endParaRPr lang="es-419" b="1" dirty="0">
              <a:solidFill>
                <a:srgbClr val="2A2E3A"/>
              </a:solidFill>
              <a:latin typeface="Montserrat"/>
            </a:endParaRPr>
          </a:p>
          <a:p>
            <a:pPr algn="just">
              <a:lnSpc>
                <a:spcPct val="139960"/>
              </a:lnSpc>
            </a:pPr>
            <a:r>
              <a:rPr lang="es-419" dirty="0">
                <a:solidFill>
                  <a:srgbClr val="2A2E3A"/>
                </a:solidFill>
                <a:latin typeface="Montserrat"/>
              </a:rPr>
              <a:t>Si tenemos un entrenamiento de 2 horas, y quemamos alrededor de 1800 calorías y los hacemos por 4 veces por semana. Nuestro modelo ML indica que nuestro nivel de experiencia es 2 – nivel, es decir, experto en ejercicio.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5A32799-7358-7DC5-055A-099DC3A8B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278" y="4363666"/>
            <a:ext cx="6077798" cy="4039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1093</Words>
  <Application>Microsoft Office PowerPoint</Application>
  <PresentationFormat>Personalizado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Montserrat</vt:lpstr>
      <vt:lpstr>Arial</vt:lpstr>
      <vt:lpstr>-apple-system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Alejandro Narváez</cp:lastModifiedBy>
  <cp:revision>3</cp:revision>
  <dcterms:created xsi:type="dcterms:W3CDTF">2006-08-16T00:00:00Z</dcterms:created>
  <dcterms:modified xsi:type="dcterms:W3CDTF">2025-05-03T13:16:47Z</dcterms:modified>
</cp:coreProperties>
</file>